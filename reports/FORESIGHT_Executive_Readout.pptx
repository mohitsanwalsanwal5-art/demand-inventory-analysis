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'Good morning, leadership team. Today we present Project FORESIGHT—an operational demand and inventory intelligence platform built specifically for NorthBay Living. Rather than relying on gut feeling, FORESIGHT links forward machine learning demand forecasts directly to supplier replenishment lead times.'</a:t>
            </a:r>
          </a:p>
          <a:p/>
          <a:p>
            <a:r>
              <a:t>WHY THIS SLIDE MATTERS:</a:t>
            </a:r>
          </a:p>
          <a:p>
            <a:r>
              <a:t>Establishes immediate executive clarity. In one view, leaders see that ₹1.79 Crore in working capital and revenue exposure is currently at stake across active operations, divided into 6 urgent replenishment items and 20 overstock items.</a:t>
            </a:r>
          </a:p>
          <a:p/>
          <a:p>
            <a:r>
              <a:t>KEY NUMBER TO EMPHASIZE:</a:t>
            </a:r>
          </a:p>
          <a:p>
            <a:r>
              <a:t>'₹1.79 Crore total active value at stake—comprising ₹45.18 Lakhs in revenue exposure from 6 stockout-risk SKUs and ₹1.34 Crore in capital tied up across 20 excess lines.'</a:t>
            </a:r>
          </a:p>
          <a:p/>
          <a:p>
            <a:r>
              <a:t>LIKELY EXECUTIVE QUESTION:</a:t>
            </a:r>
          </a:p>
          <a:p>
            <a:r>
              <a:t>Q: 'Is that ₹1.79 Crore guaranteed cost savings or realized loss?'</a:t>
            </a:r>
          </a:p>
          <a:p>
            <a:r>
              <a:t>A: 'No. This is an operational exposure metric prioritizing management attention. The ₹45.18 Lakhs is potential unmet demand if replenishment is delayed, while the ₹1.34 Crore is capital currently locked in excess goods.'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'To understand why NorthBay Living needed FORESIGHT, we have to look at the daily reality of inventory planning. When you rely on static spreadsheets, two things happen simultaneously: bestsellers run out because nobody saw the demand surge coming, while slow movers quietly accumulate dust in the warehouse.'</a:t>
            </a:r>
          </a:p>
          <a:p/>
          <a:p>
            <a:r>
              <a:t>WHY THIS SLIDE MATTERS:</a:t>
            </a:r>
          </a:p>
          <a:p>
            <a:r>
              <a:t>Proves data hygiene and enterprise rigor. We did not throw away messy data; we cleanly separated the 50 active commercial SKUs from the 150 warehouse-only lines, preserving the entire 200-SKU inventory universe.</a:t>
            </a:r>
          </a:p>
          <a:p/>
          <a:p>
            <a:r>
              <a:t>KEY NUMBER TO EMPHASIZE:</a:t>
            </a:r>
          </a:p>
          <a:p>
            <a:r>
              <a:t>'511,810 units sold across two complete years representing ₹309.61 Crore in top-line commercial activity.'</a:t>
            </a:r>
          </a:p>
          <a:p/>
          <a:p>
            <a:r>
              <a:t>LIKELY EXECUTIVE QUESTION:</a:t>
            </a:r>
          </a:p>
          <a:p>
            <a:r>
              <a:t>Q: 'Why aren't the 150 warehouse-only SKUs being forecasted?'</a:t>
            </a:r>
          </a:p>
          <a:p>
            <a:r>
              <a:t>A: 'Because they have zero commercial transactions over the entire 2-year history. You cannot forecast consumer demand where there has never been customer sales. Instead, they require an operational freeze and catalog liquidation audit.'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'When we profiled the two years of transactional data, four commercial realities immediately surfaced. First, NorthBay's revenue is intensely concentrated—just 10 SKUs generate nearly half of all company revenue. Second, promotions work: they boost unit sales by 38.12%. Third, there is strong seasonality, peaking at 118 units per week in March and bottoming at 80 in October.'</a:t>
            </a:r>
          </a:p>
          <a:p/>
          <a:p>
            <a:r>
              <a:t>WHY THIS SLIDE MATTERS:</a:t>
            </a:r>
          </a:p>
          <a:p>
            <a:r>
              <a:t>Insight #4 is a major eye-opener for the CFO: 16 out of the 50 commercial SKUs were selling below cost, burning ₹30.38 Crore in cumulative gross profit. This proves why inventory intelligence must connect demand to margins.'</a:t>
            </a:r>
          </a:p>
          <a:p/>
          <a:p>
            <a:r>
              <a:t>KEY NUMBER TO EMPHASIZE:</a:t>
            </a:r>
          </a:p>
          <a:p>
            <a:r>
              <a:t>'16 out of 50 active SKUs generated ₹51.69 Crore in sales but created a -₹30.38 Crore loss in gross margin.'</a:t>
            </a:r>
          </a:p>
          <a:p/>
          <a:p>
            <a:r>
              <a:t>LIKELY EXECUTIVE QUESTION:</a:t>
            </a:r>
          </a:p>
          <a:p>
            <a:r>
              <a:t>Q: 'How did 16 SKUs end up with negative margins?'</a:t>
            </a:r>
          </a:p>
          <a:p>
            <a:r>
              <a:t>A: 'Static price points and deep promotional discounts were applied without reconciling against supplier cost increases. FORESIGHT flags these SKUs so merchandising can immediately restructure pricing.'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'The foundational question of D3 was simple: Can machine learning predict weekly demand better than a seasonal baseline? We tested this with complete integrity across 4 rolling-origin backtests—meaning the model was evaluated exactly as if it were making real forward decisions in time.'</a:t>
            </a:r>
          </a:p>
          <a:p/>
          <a:p>
            <a:r>
              <a:t>WHY THIS SLIDE MATTERS:</a:t>
            </a:r>
          </a:p>
          <a:p>
            <a:r>
              <a:t>Shows technical rigor and intellectual honesty. We did not use a random train/test split. The ML model achieved 10.56% WAPE, delivering a modest but consistent 5.5% error reduction over the seasonal benchmark and winning 3 of 4 origins.</a:t>
            </a:r>
          </a:p>
          <a:p/>
          <a:p>
            <a:r>
              <a:t>KEY NUMBER TO EMPHASIZE:</a:t>
            </a:r>
          </a:p>
          <a:p>
            <a:r>
              <a:t>'10.56% WAPE across 1,600 out-of-sample backtest predictions, proving the model is stable and production-ready.'</a:t>
            </a:r>
          </a:p>
          <a:p/>
          <a:p>
            <a:r>
              <a:t>LIKELY EXECUTIVE QUESTION:</a:t>
            </a:r>
          </a:p>
          <a:p>
            <a:r>
              <a:t>Q: 'Is a 0.61 percentage-point improvement worth deploying?'</a:t>
            </a:r>
          </a:p>
          <a:p>
            <a:r>
              <a:t>A: 'Yes. In enterprise retail with ₹300+ Cr in volume, reducing demand forecasting error by 5.5% directly prevents over-ordering and optimizes buffer sizing across all 50 SKUs.'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'Here is the heart of D4: the 4-Quadrant Decisioning Grid. Unlike traditional systems that trigger alarms simply because physical stock is below a static reorder point, FORESIGHT uses a dynamic lead-time buffer.'</a:t>
            </a:r>
          </a:p>
          <a:p/>
          <a:p>
            <a:r>
              <a:t>WHY THIS SLIDE MATTERS:</a:t>
            </a:r>
          </a:p>
          <a:p>
            <a:r>
              <a:t>Explains the crucial difference between physical stock and total available inventory (Current Stock + On-Order). Under a static reorder point rule, 15 SKUs would have triggered alarms. But 10 of those SKUs already have large purchase orders on the way. FORESIGHT prevents double-ordering while uncovering genuine buffer deficits like SKU010.'</a:t>
            </a:r>
          </a:p>
          <a:p/>
          <a:p>
            <a:r>
              <a:t>KEY NUMBER TO EMPHASIZE:</a:t>
            </a:r>
          </a:p>
          <a:p>
            <a:r>
              <a:t>'Exactly 6 SKUs in Reorder Now, 20 in Markdown/Clear, and 24 completely Healthy.'</a:t>
            </a:r>
          </a:p>
          <a:p/>
          <a:p>
            <a:r>
              <a:t>LIKELY EXECUTIVE QUESTION:</a:t>
            </a:r>
          </a:p>
          <a:p>
            <a:r>
              <a:t>Q: 'Why are there 0 SKUs in Watch / Volatile?'</a:t>
            </a:r>
          </a:p>
          <a:p>
            <a:r>
              <a:t>A: 'Because in NorthBay's catalog right now, no SKU has both a lead-time deficit and a 4-week excess holding. The operational states are cleanly separated between under-stocked bestsellers and overstocked slow movers.'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'Let's look at the financial exposure. We see three key numbers: ₹45.18 Lakhs in revenue at risk, ₹1.34 Crore in working capital tied up in excess stock, leading to a total active value at stake of ₹1.79 Crore.'</a:t>
            </a:r>
          </a:p>
          <a:p/>
          <a:p>
            <a:r>
              <a:t>WHY THIS SLIDE MATTERS:</a:t>
            </a:r>
          </a:p>
          <a:p>
            <a:r>
              <a:t>Demonstrates financial literacy and intellectual honesty. We do not claim this is 'guaranteed savings' or 'pure profit.' Revenue at risk is potential unfulfilled demand if purchase orders are delayed; capital tied up is cash sitting on shelves that could be deployed elsewhere.</a:t>
            </a:r>
          </a:p>
          <a:p/>
          <a:p>
            <a:r>
              <a:t>KEY NUMBER TO EMPHASIZE:</a:t>
            </a:r>
          </a:p>
          <a:p>
            <a:r>
              <a:t>'Top 3 stockout SKUs account for 94.7% of revenue at risk—meaning leadership only needs to prioritize three specific SKUs to protect nearly all stockout exposure.'</a:t>
            </a:r>
          </a:p>
          <a:p/>
          <a:p>
            <a:r>
              <a:t>LIKELY EXECUTIVE QUESTION:</a:t>
            </a:r>
          </a:p>
          <a:p>
            <a:r>
              <a:t>Q: 'Can we recover the entire ₹1.34 Crore tied up in overstock?'</a:t>
            </a:r>
          </a:p>
          <a:p>
            <a:r>
              <a:t>A: 'Yes, through planned merchandising clearance. Because these are active commercial items with proven sales, running promotional markdowns will accelerate sell-through without severe write-downs.'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'Here is the prioritized operational action plan. Priority 1: Operations immediately reviews replenishment for the 6 stockout SKUs. Priority 2: Merchandising initiates clearance promotions for the 20 overstock items. Priority 3: Finance audits the ₹17.49 Crore in warehouse-only stock. Priority 4: Re-price the 16 negative-margin SKUs. Priority 5: Ongoing forecast governance.'</a:t>
            </a:r>
          </a:p>
          <a:p/>
          <a:p>
            <a:r>
              <a:t>WHY THIS SLIDE MATTERS:</a:t>
            </a:r>
          </a:p>
          <a:p>
            <a:r>
              <a:t>Transforms analytical insights into concrete stakeholder accountability. Every recommendation has a clear target scope and business impact.</a:t>
            </a:r>
          </a:p>
          <a:p/>
          <a:p>
            <a:r>
              <a:t>KEY NUMBER TO EMPHASIZE:</a:t>
            </a:r>
          </a:p>
          <a:p>
            <a:r>
              <a:t>'Priority 3: Freeze 27,737 units of in-transit orders for inactive lines before more working capital lands in the warehouse.'</a:t>
            </a:r>
          </a:p>
          <a:p/>
          <a:p>
            <a:r>
              <a:t>LIKELY EXECUTIVE QUESTION:</a:t>
            </a:r>
          </a:p>
          <a:p>
            <a:r>
              <a:t>Q: 'Does FORESIGHT place purchase orders automatically?'</a:t>
            </a:r>
          </a:p>
          <a:p>
            <a:r>
              <a:t>A: 'No. The platform is strictly an executive decision-support system. Human oversight from Operations and Merchandising remains mandatory.'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'To make sure these insights don't just stay on slides, we built two production software deliverables: a Streamlit planning dashboard for business leaders, and a FastAPI scoring service for IT and system integration.'</a:t>
            </a:r>
          </a:p>
          <a:p/>
          <a:p>
            <a:r>
              <a:t>WHY THIS SLIDE MATTERS:</a:t>
            </a:r>
          </a:p>
          <a:p>
            <a:r>
              <a:t>Demonstrates complete software delivery readiness. The dashboard gives planners interactive visual control, while the API enables ERP systems to pull forward risk scores programmatically.</a:t>
            </a:r>
          </a:p>
          <a:p/>
          <a:p>
            <a:r>
              <a:t>KEY NUMBER TO EMPHASIZE:</a:t>
            </a:r>
          </a:p>
          <a:p>
            <a:r>
              <a:t>'Sub-millisecond API response latency across all 4 production endpoints with automated error isolation.'</a:t>
            </a:r>
          </a:p>
          <a:p/>
          <a:p>
            <a:r>
              <a:t>LIKELY EXECUTIVE QUESTION:</a:t>
            </a:r>
          </a:p>
          <a:p>
            <a:r>
              <a:t>Q: 'How hard is it to deploy this into our existing cloud setup?'</a:t>
            </a:r>
          </a:p>
          <a:p>
            <a:r>
              <a:t>A: 'Both applications are deployment-ready with standardized requirements.txt, Procfile, and Render blueprints. They can be hosted on internal cloud or accessed via secure public URLs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'A great data science project must be honest about what it can and cannot do. We do not claim perfect accuracy. Our machine learning model has an out-of-sample error rate of 10.56%, and it has a slight positive bias of +2.03 units per week, which actually protects us against stockouts.'</a:t>
            </a:r>
          </a:p>
          <a:p/>
          <a:p>
            <a:r>
              <a:t>WHY THIS SLIDE MATTERS:</a:t>
            </a:r>
          </a:p>
          <a:p>
            <a:r>
              <a:t>Builds immense credibility with executive leadership. Executives distrust models that claim 100% accuracy. By explaining the positive bias and supplier execution assumptions, we show that we understand real-world supply chain risks.</a:t>
            </a:r>
          </a:p>
          <a:p/>
          <a:p>
            <a:r>
              <a:t>KEY NUMBER TO EMPHASIZE:</a:t>
            </a:r>
          </a:p>
          <a:p>
            <a:r>
              <a:t>'+2.03 units/week signed bias—modest, explainable, and beneficial as an operational buffer.'</a:t>
            </a:r>
          </a:p>
          <a:p/>
          <a:p>
            <a:r>
              <a:t>LIKELY EXECUTIVE QUESTION:</a:t>
            </a:r>
          </a:p>
          <a:p>
            <a:r>
              <a:t>Q: 'What happens if a supplier takes 20 days instead of the recorded 12 days?'</a:t>
            </a:r>
          </a:p>
          <a:p>
            <a:r>
              <a:t>A: 'Because the risk engine is parameterized by Lead_Time_Days, updating vendor lead times immediately re-calculates the required buffer and updates risk scores across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SHOULD SAY:</a:t>
            </a:r>
          </a:p>
          <a:p>
            <a:r>
              <a:t>'To conclude, here is our 30-day implementation roadmap. Week 1 is immediate operational triage on the 6 stockout and 20 clearance SKUs. Week 2 addresses the commercial margin restructuring. Weeks 3 and 4 deploy the dashboard and API services to the broader team. And ongoing governance ensures monthly recalibration.'</a:t>
            </a:r>
          </a:p>
          <a:p/>
          <a:p>
            <a:r>
              <a:t>WHY THIS SLIDE MATTERS:</a:t>
            </a:r>
          </a:p>
          <a:p>
            <a:r>
              <a:t>Ends the presentation with an inspiring, actionable closing statement that leaves the executive team with absolute confidence in next steps.</a:t>
            </a:r>
          </a:p>
          <a:p/>
          <a:p>
            <a:r>
              <a:t>KEY NUMBER TO EMPHASIZE:</a:t>
            </a:r>
          </a:p>
          <a:p>
            <a:r>
              <a:t>'4 distinct phases moving from immediate triage to sustained operational excellence.'</a:t>
            </a:r>
          </a:p>
          <a:p/>
          <a:p>
            <a:r>
              <a:t>LIKELY EXECUTIVE QUESTION:</a:t>
            </a:r>
          </a:p>
          <a:p>
            <a:r>
              <a:t>Q: 'What is the immediate next step on Monday morning?'</a:t>
            </a:r>
          </a:p>
          <a:p>
            <a:r>
              <a:t>A: 'Operations schedules purchase order reviews for SKU012, SKU017, and SKU031 to protect 95% of our stockout risk exposure.'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EXECUTIVE READOUT | PROJECT FORESIGHT</a:t>
            </a:r>
          </a:p>
          <a:p>
            <a:pPr>
              <a:spcAft>
                <a:spcPts val="200"/>
              </a:spcAft>
              <a:defRPr sz="2000" b="1">
                <a:solidFill>
                  <a:srgbClr val="0F172A"/>
                </a:solidFill>
                <a:latin typeface="Calibri"/>
              </a:defRPr>
            </a:pPr>
            <a:r>
              <a:t>FORESIGHT: Demand &amp; Inventory Intelligence</a:t>
            </a:r>
          </a:p>
          <a:p>
            <a:pPr>
              <a:defRPr sz="1100">
                <a:solidFill>
                  <a:srgbClr val="64748B"/>
                </a:solidFill>
                <a:latin typeface="Calibri"/>
              </a:defRPr>
            </a:pPr>
            <a:r>
              <a:t>Bridging dynamic demand forecasts and supplier lead-time buffers to prioritize working capital and service-level exposure.</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sp>
        <p:nvSpPr>
          <p:cNvPr id="6" name="Rounded Rectangle 5"/>
          <p:cNvSpPr/>
          <p:nvPr/>
        </p:nvSpPr>
        <p:spPr>
          <a:xfrm>
            <a:off x="731520" y="1554480"/>
            <a:ext cx="1965960" cy="1234440"/>
          </a:xfrm>
          <a:prstGeom prst="roundRect">
            <a:avLst/>
          </a:prstGeom>
          <a:solidFill>
            <a:srgbClr val="FFFFFF"/>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39"/>
            <a:ext cx="1691639" cy="960120"/>
          </a:xfrm>
          <a:prstGeom prst="rect">
            <a:avLst/>
          </a:prstGeom>
          <a:noFill/>
        </p:spPr>
        <p:txBody>
          <a:bodyPr wrap="square" lIns="0" tIns="0" rIns="0" bIns="0">
            <a:spAutoFit/>
          </a:bodyPr>
          <a:lstStyle/>
          <a:p>
            <a:pPr>
              <a:spcAft>
                <a:spcPts val="200"/>
              </a:spcAft>
              <a:defRPr sz="900" b="1">
                <a:solidFill>
                  <a:srgbClr val="64748B"/>
                </a:solidFill>
                <a:latin typeface="Calibri"/>
              </a:defRPr>
            </a:pPr>
            <a:r>
              <a:t>STOCKOUT RISK</a:t>
            </a:r>
          </a:p>
          <a:p>
            <a:pPr>
              <a:spcAft>
                <a:spcPts val="200"/>
              </a:spcAft>
              <a:defRPr sz="1900" b="1">
                <a:solidFill>
                  <a:srgbClr val="DC2626"/>
                </a:solidFill>
                <a:latin typeface="Calibri"/>
              </a:defRPr>
            </a:pPr>
            <a:r>
              <a:t>6 SKUs</a:t>
            </a:r>
          </a:p>
          <a:p>
            <a:pPr>
              <a:defRPr sz="900">
                <a:solidFill>
                  <a:srgbClr val="1E293B"/>
                </a:solidFill>
                <a:latin typeface="Calibri"/>
              </a:defRPr>
            </a:pPr>
            <a:r>
              <a:t>Buffer breach (12% of catalog)</a:t>
            </a:r>
            <a:br/>
            <a:r>
              <a:t>660.2 units deficit</a:t>
            </a:r>
          </a:p>
        </p:txBody>
      </p:sp>
      <p:sp>
        <p:nvSpPr>
          <p:cNvPr id="8" name="Rounded Rectangle 7"/>
          <p:cNvSpPr/>
          <p:nvPr/>
        </p:nvSpPr>
        <p:spPr>
          <a:xfrm>
            <a:off x="2880360" y="1554480"/>
            <a:ext cx="1965960" cy="123444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691639"/>
            <a:ext cx="1691639" cy="960120"/>
          </a:xfrm>
          <a:prstGeom prst="rect">
            <a:avLst/>
          </a:prstGeom>
          <a:noFill/>
        </p:spPr>
        <p:txBody>
          <a:bodyPr wrap="square" lIns="0" tIns="0" rIns="0" bIns="0">
            <a:spAutoFit/>
          </a:bodyPr>
          <a:lstStyle/>
          <a:p>
            <a:pPr>
              <a:spcAft>
                <a:spcPts val="200"/>
              </a:spcAft>
              <a:defRPr sz="900" b="1">
                <a:solidFill>
                  <a:srgbClr val="64748B"/>
                </a:solidFill>
                <a:latin typeface="Calibri"/>
              </a:defRPr>
            </a:pPr>
            <a:r>
              <a:t>OVERSTOCK RISK</a:t>
            </a:r>
          </a:p>
          <a:p>
            <a:pPr>
              <a:spcAft>
                <a:spcPts val="200"/>
              </a:spcAft>
              <a:defRPr sz="1900" b="1">
                <a:solidFill>
                  <a:srgbClr val="D97706"/>
                </a:solidFill>
                <a:latin typeface="Calibri"/>
              </a:defRPr>
            </a:pPr>
            <a:r>
              <a:t>20 SKUs</a:t>
            </a:r>
          </a:p>
          <a:p>
            <a:pPr>
              <a:defRPr sz="900">
                <a:solidFill>
                  <a:srgbClr val="1E293B"/>
                </a:solidFill>
                <a:latin typeface="Calibri"/>
              </a:defRPr>
            </a:pPr>
            <a:r>
              <a:t>Excess supply (40% of catalog)</a:t>
            </a:r>
            <a:br/>
            <a:r>
              <a:t>4,456 excess units</a:t>
            </a:r>
          </a:p>
        </p:txBody>
      </p:sp>
      <p:sp>
        <p:nvSpPr>
          <p:cNvPr id="10" name="Rounded Rectangle 9"/>
          <p:cNvSpPr/>
          <p:nvPr/>
        </p:nvSpPr>
        <p:spPr>
          <a:xfrm>
            <a:off x="5029200" y="1554480"/>
            <a:ext cx="1965960" cy="1234440"/>
          </a:xfrm>
          <a:prstGeom prst="roundRect">
            <a:avLst/>
          </a:prstGeom>
          <a:solidFill>
            <a:srgbClr val="FFFFFF"/>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691639"/>
            <a:ext cx="1691639" cy="960120"/>
          </a:xfrm>
          <a:prstGeom prst="rect">
            <a:avLst/>
          </a:prstGeom>
          <a:noFill/>
        </p:spPr>
        <p:txBody>
          <a:bodyPr wrap="square" lIns="0" tIns="0" rIns="0" bIns="0">
            <a:spAutoFit/>
          </a:bodyPr>
          <a:lstStyle/>
          <a:p>
            <a:pPr>
              <a:spcAft>
                <a:spcPts val="200"/>
              </a:spcAft>
              <a:defRPr sz="900" b="1">
                <a:solidFill>
                  <a:srgbClr val="64748B"/>
                </a:solidFill>
                <a:latin typeface="Calibri"/>
              </a:defRPr>
            </a:pPr>
            <a:r>
              <a:t>REVENUE AT RISK</a:t>
            </a:r>
          </a:p>
          <a:p>
            <a:pPr>
              <a:spcAft>
                <a:spcPts val="200"/>
              </a:spcAft>
              <a:defRPr sz="1900" b="1">
                <a:solidFill>
                  <a:srgbClr val="DC2626"/>
                </a:solidFill>
                <a:latin typeface="Calibri"/>
              </a:defRPr>
            </a:pPr>
            <a:r>
              <a:t>₹45.18 Lakh</a:t>
            </a:r>
          </a:p>
          <a:p>
            <a:pPr>
              <a:defRPr sz="900">
                <a:solidFill>
                  <a:srgbClr val="1E293B"/>
                </a:solidFill>
                <a:latin typeface="Calibri"/>
              </a:defRPr>
            </a:pPr>
            <a:r>
              <a:t>Gross sales exposure during</a:t>
            </a:r>
            <a:br/>
            <a:r>
              <a:t>replenishment window</a:t>
            </a:r>
          </a:p>
        </p:txBody>
      </p:sp>
      <p:sp>
        <p:nvSpPr>
          <p:cNvPr id="12" name="Rounded Rectangle 11"/>
          <p:cNvSpPr/>
          <p:nvPr/>
        </p:nvSpPr>
        <p:spPr>
          <a:xfrm>
            <a:off x="7178040" y="1554480"/>
            <a:ext cx="1965960" cy="123444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691639"/>
            <a:ext cx="1691639" cy="960120"/>
          </a:xfrm>
          <a:prstGeom prst="rect">
            <a:avLst/>
          </a:prstGeom>
          <a:noFill/>
        </p:spPr>
        <p:txBody>
          <a:bodyPr wrap="square" lIns="0" tIns="0" rIns="0" bIns="0">
            <a:spAutoFit/>
          </a:bodyPr>
          <a:lstStyle/>
          <a:p>
            <a:pPr>
              <a:spcAft>
                <a:spcPts val="200"/>
              </a:spcAft>
              <a:defRPr sz="900" b="1">
                <a:solidFill>
                  <a:srgbClr val="64748B"/>
                </a:solidFill>
                <a:latin typeface="Calibri"/>
              </a:defRPr>
            </a:pPr>
            <a:r>
              <a:t>CAPITAL TIED UP</a:t>
            </a:r>
          </a:p>
          <a:p>
            <a:pPr>
              <a:spcAft>
                <a:spcPts val="200"/>
              </a:spcAft>
              <a:defRPr sz="1900" b="1">
                <a:solidFill>
                  <a:srgbClr val="D97706"/>
                </a:solidFill>
                <a:latin typeface="Calibri"/>
              </a:defRPr>
            </a:pPr>
            <a:r>
              <a:t>₹1.34 Crore</a:t>
            </a:r>
          </a:p>
          <a:p>
            <a:pPr>
              <a:defRPr sz="900">
                <a:solidFill>
                  <a:srgbClr val="1E293B"/>
                </a:solidFill>
                <a:latin typeface="Calibri"/>
              </a:defRPr>
            </a:pPr>
            <a:r>
              <a:t>Working capital locked in</a:t>
            </a:r>
            <a:br/>
            <a:r>
              <a:t>active excess inventory</a:t>
            </a:r>
          </a:p>
        </p:txBody>
      </p:sp>
      <p:sp>
        <p:nvSpPr>
          <p:cNvPr id="14" name="Rounded Rectangle 13"/>
          <p:cNvSpPr/>
          <p:nvPr/>
        </p:nvSpPr>
        <p:spPr>
          <a:xfrm>
            <a:off x="9326880" y="1554480"/>
            <a:ext cx="2103120" cy="1234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64040" y="1691639"/>
            <a:ext cx="1828799" cy="960120"/>
          </a:xfrm>
          <a:prstGeom prst="rect">
            <a:avLst/>
          </a:prstGeom>
          <a:noFill/>
        </p:spPr>
        <p:txBody>
          <a:bodyPr wrap="square" lIns="0" tIns="0" rIns="0" bIns="0">
            <a:spAutoFit/>
          </a:bodyPr>
          <a:lstStyle/>
          <a:p>
            <a:pPr>
              <a:spcAft>
                <a:spcPts val="200"/>
              </a:spcAft>
              <a:defRPr sz="900" b="1">
                <a:solidFill>
                  <a:srgbClr val="64748B"/>
                </a:solidFill>
                <a:latin typeface="Calibri"/>
              </a:defRPr>
            </a:pPr>
            <a:r>
              <a:t>TOTAL VALUE AT STAKE</a:t>
            </a:r>
          </a:p>
          <a:p>
            <a:pPr>
              <a:spcAft>
                <a:spcPts val="200"/>
              </a:spcAft>
              <a:defRPr sz="1900" b="1">
                <a:solidFill>
                  <a:srgbClr val="2563EB"/>
                </a:solidFill>
                <a:latin typeface="Calibri"/>
              </a:defRPr>
            </a:pPr>
            <a:r>
              <a:t>₹1.79 Crore</a:t>
            </a:r>
          </a:p>
          <a:p>
            <a:pPr>
              <a:defRPr sz="900">
                <a:solidFill>
                  <a:srgbClr val="1E293B"/>
                </a:solidFill>
                <a:latin typeface="Calibri"/>
              </a:defRPr>
            </a:pPr>
            <a:r>
              <a:t>Combined operational</a:t>
            </a:r>
            <a:br/>
            <a:r>
              <a:t>decision priority exposure</a:t>
            </a:r>
          </a:p>
        </p:txBody>
      </p:sp>
      <p:sp>
        <p:nvSpPr>
          <p:cNvPr id="16" name="Rounded Rectangle 15"/>
          <p:cNvSpPr/>
          <p:nvPr/>
        </p:nvSpPr>
        <p:spPr>
          <a:xfrm>
            <a:off x="731520" y="3063240"/>
            <a:ext cx="10698480" cy="96012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200"/>
              </a:spcAft>
              <a:defRPr sz="1150" b="1">
                <a:solidFill>
                  <a:srgbClr val="DC2626"/>
                </a:solidFill>
                <a:latin typeface="Calibri"/>
              </a:defRPr>
            </a:pPr>
            <a:r>
              <a:t>1. Replenishment Action Required (6 SKUs)</a:t>
            </a:r>
          </a:p>
          <a:p>
            <a:pPr>
              <a:defRPr sz="950">
                <a:solidFill>
                  <a:srgbClr val="1E293B"/>
                </a:solidFill>
                <a:latin typeface="Calibri"/>
              </a:defRPr>
            </a:pPr>
            <a:r>
              <a:t>Immediate purchase order review needed for 6 key SKUs (SKU010, SKU012, SKU017, SKU023, SKU031, SKU040). Current warehouse inventory plus incoming orders falls 660.2 units short of covering forward lead-time demand and safety stock.</a:t>
            </a:r>
          </a:p>
        </p:txBody>
      </p:sp>
      <p:sp>
        <p:nvSpPr>
          <p:cNvPr id="17" name="Rounded Rectangle 16"/>
          <p:cNvSpPr/>
          <p:nvPr/>
        </p:nvSpPr>
        <p:spPr>
          <a:xfrm>
            <a:off x="731520" y="4160520"/>
            <a:ext cx="10698480" cy="9601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200"/>
              </a:spcAft>
              <a:defRPr sz="1150" b="1">
                <a:solidFill>
                  <a:srgbClr val="D97706"/>
                </a:solidFill>
                <a:latin typeface="Calibri"/>
              </a:defRPr>
            </a:pPr>
            <a:r>
              <a:t>2. Promotional Markdown Review (20 SKUs)</a:t>
            </a:r>
          </a:p>
          <a:p>
            <a:pPr>
              <a:defRPr sz="950">
                <a:solidFill>
                  <a:srgbClr val="1E293B"/>
                </a:solidFill>
                <a:latin typeface="Calibri"/>
              </a:defRPr>
            </a:pPr>
            <a:r>
              <a:t>20 active commercial SKUs hold 4,456 units in excess of 4-week projected demand. This locks up ₹1.34 Crore in operational working capital that should be unlocked via selective clearance promotions or B2B sales.</a:t>
            </a:r>
          </a:p>
        </p:txBody>
      </p:sp>
      <p:sp>
        <p:nvSpPr>
          <p:cNvPr id="18" name="Rounded Rectangle 17"/>
          <p:cNvSpPr/>
          <p:nvPr/>
        </p:nvSpPr>
        <p:spPr>
          <a:xfrm>
            <a:off x="731520" y="5257800"/>
            <a:ext cx="10698480" cy="9601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rIns="182880"/>
          <a:lstStyle/>
          <a:p>
            <a:pPr algn="ctr">
              <a:spcAft>
                <a:spcPts val="200"/>
              </a:spcAft>
              <a:defRPr sz="1150" b="1">
                <a:solidFill>
                  <a:srgbClr val="2563EB"/>
                </a:solidFill>
                <a:latin typeface="Calibri"/>
              </a:defRPr>
            </a:pPr>
            <a:r>
              <a:t>3. Enterprise Inactive Stock Governance (150 SKUs)</a:t>
            </a:r>
          </a:p>
          <a:p>
            <a:pPr>
              <a:defRPr sz="950">
                <a:solidFill>
                  <a:srgbClr val="1E293B"/>
                </a:solidFill>
                <a:latin typeface="Calibri"/>
              </a:defRPr>
            </a:pPr>
            <a:r>
              <a:t>Reconciled warehouse records reveal ₹17.49 Crore sitting idle in 150 warehouse-only lines with zero sales over 2 years. Operations must freeze 27,737 units of incoming pipeline orders and audit for catalog launch or liquidation.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THE OPERATIONAL CONTEXT</a:t>
            </a:r>
          </a:p>
          <a:p>
            <a:pPr>
              <a:spcAft>
                <a:spcPts val="200"/>
              </a:spcAft>
              <a:defRPr sz="2000" b="1">
                <a:solidFill>
                  <a:srgbClr val="0F172A"/>
                </a:solidFill>
                <a:latin typeface="Calibri"/>
              </a:defRPr>
            </a:pPr>
            <a:r>
              <a:t>The Planning Dilemma: Moving from Spreadsheets to Forecast Intelligence</a:t>
            </a:r>
          </a:p>
          <a:p>
            <a:pPr>
              <a:defRPr sz="1100">
                <a:solidFill>
                  <a:srgbClr val="64748B"/>
                </a:solidFill>
                <a:latin typeface="Calibri"/>
              </a:defRPr>
            </a:pPr>
            <a:r>
              <a:t>NorthBay Living operates in a fast-paced D2C home &amp; lifestyle market where spreadsheet heuristics lead to chronic misalignment.</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sp>
        <p:nvSpPr>
          <p:cNvPr id="6" name="Rounded Rectangle 5"/>
          <p:cNvSpPr/>
          <p:nvPr/>
        </p:nvSpPr>
        <p:spPr>
          <a:xfrm>
            <a:off x="731520" y="155448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200" b="1">
                <a:solidFill>
                  <a:srgbClr val="DC2626"/>
                </a:solidFill>
                <a:latin typeface="Calibri"/>
              </a:defRPr>
            </a:pPr>
            <a:r>
              <a:t>THE CORE BUSINESS CHALLENGE</a:t>
            </a:r>
          </a:p>
          <a:p>
            <a:pPr>
              <a:spcAft>
                <a:spcPts val="100"/>
              </a:spcAft>
              <a:defRPr sz="1000" b="1">
                <a:solidFill>
                  <a:srgbClr val="0F172A"/>
                </a:solidFill>
                <a:latin typeface="Calibri"/>
              </a:defRPr>
            </a:pPr>
            <a:r>
              <a:t>• Bestseller Stockouts &amp; Customer Churn</a:t>
            </a:r>
          </a:p>
          <a:p>
            <a:pPr>
              <a:spcAft>
                <a:spcPts val="600"/>
              </a:spcAft>
              <a:defRPr sz="850">
                <a:solidFill>
                  <a:srgbClr val="1E293B"/>
                </a:solidFill>
                <a:latin typeface="Calibri"/>
              </a:defRPr>
            </a:pPr>
            <a:r>
              <a:t>  High-velocity items repeatedly run out of stock during supplier replenishment lead times (3–14 days), disappointing D2C shoppers and driving them to competitors.</a:t>
            </a:r>
          </a:p>
          <a:p>
            <a:pPr>
              <a:spcAft>
                <a:spcPts val="100"/>
              </a:spcAft>
              <a:defRPr sz="1000" b="1">
                <a:solidFill>
                  <a:srgbClr val="0F172A"/>
                </a:solidFill>
                <a:latin typeface="Calibri"/>
              </a:defRPr>
            </a:pPr>
            <a:r>
              <a:t>• Working Capital Trapped in Slow Movers</a:t>
            </a:r>
          </a:p>
          <a:p>
            <a:pPr>
              <a:spcAft>
                <a:spcPts val="600"/>
              </a:spcAft>
              <a:defRPr sz="850">
                <a:solidFill>
                  <a:srgbClr val="1E293B"/>
                </a:solidFill>
                <a:latin typeface="Calibri"/>
              </a:defRPr>
            </a:pPr>
            <a:r>
              <a:t>  Capital becomes trapped in over-ordered inventory holding beyond 30 days of forward demand, elevating holding costs and warehouse storage pressure.</a:t>
            </a:r>
          </a:p>
          <a:p>
            <a:pPr>
              <a:spcAft>
                <a:spcPts val="100"/>
              </a:spcAft>
              <a:defRPr sz="1000" b="1">
                <a:solidFill>
                  <a:srgbClr val="0F172A"/>
                </a:solidFill>
                <a:latin typeface="Calibri"/>
              </a:defRPr>
            </a:pPr>
            <a:r>
              <a:t>• Blindness of Static Reorder Points</a:t>
            </a:r>
          </a:p>
          <a:p>
            <a:pPr>
              <a:spcAft>
                <a:spcPts val="600"/>
              </a:spcAft>
              <a:defRPr sz="850">
                <a:solidFill>
                  <a:srgbClr val="1E293B"/>
                </a:solidFill>
                <a:latin typeface="Calibri"/>
              </a:defRPr>
            </a:pPr>
            <a:r>
              <a:t>  Traditional static reorder points look only at physical shelf stock, ignoring orders already placed with suppliers (On-Order) and failing to project upcoming demand surges.</a:t>
            </a:r>
          </a:p>
          <a:p>
            <a:pPr>
              <a:spcAft>
                <a:spcPts val="100"/>
              </a:spcAft>
              <a:defRPr sz="1000" b="1">
                <a:solidFill>
                  <a:srgbClr val="0F172A"/>
                </a:solidFill>
                <a:latin typeface="Calibri"/>
              </a:defRPr>
            </a:pPr>
            <a:r>
              <a:t>• Fragmented Spreadsheets &amp; Ad-hoc Decisions</a:t>
            </a:r>
          </a:p>
          <a:p>
            <a:pPr>
              <a:spcAft>
                <a:spcPts val="600"/>
              </a:spcAft>
              <a:defRPr sz="850">
                <a:solidFill>
                  <a:srgbClr val="1E293B"/>
                </a:solidFill>
                <a:latin typeface="Calibri"/>
              </a:defRPr>
            </a:pPr>
            <a:r>
              <a:t>  Operations and Merchandising teams historically planned in silos without a single, synchronized forward demand signal.</a:t>
            </a:r>
          </a:p>
        </p:txBody>
      </p:sp>
      <p:sp>
        <p:nvSpPr>
          <p:cNvPr id="7" name="Rounded Rectangle 6"/>
          <p:cNvSpPr/>
          <p:nvPr/>
        </p:nvSpPr>
        <p:spPr>
          <a:xfrm>
            <a:off x="6217920" y="1554480"/>
            <a:ext cx="5212080" cy="4572000"/>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200" b="1">
                <a:solidFill>
                  <a:srgbClr val="2563EB"/>
                </a:solidFill>
                <a:latin typeface="Calibri"/>
              </a:defRPr>
            </a:pPr>
            <a:r>
              <a:t>DATASET FOUNDATION &amp; ENTERPRISE RECONCILIATION</a:t>
            </a:r>
          </a:p>
          <a:p>
            <a:pPr>
              <a:spcAft>
                <a:spcPts val="100"/>
              </a:spcAft>
              <a:defRPr sz="1000" b="1">
                <a:solidFill>
                  <a:srgbClr val="0F172A"/>
                </a:solidFill>
                <a:latin typeface="Calibri"/>
              </a:defRPr>
            </a:pPr>
            <a:r>
              <a:t>✓ Full 2-Year Transactional History</a:t>
            </a:r>
          </a:p>
          <a:p>
            <a:pPr>
              <a:spcAft>
                <a:spcPts val="600"/>
              </a:spcAft>
              <a:defRPr sz="850">
                <a:solidFill>
                  <a:srgbClr val="1E293B"/>
                </a:solidFill>
                <a:latin typeface="Calibri"/>
              </a:defRPr>
            </a:pPr>
            <a:r>
              <a:t>  511,810 units sold totaling ₹3,096,056,707.22 (₹309.61 Cr) across daily records from Jan 1, 2024 to Dec 31, 2025.</a:t>
            </a:r>
          </a:p>
          <a:p>
            <a:pPr>
              <a:spcAft>
                <a:spcPts val="100"/>
              </a:spcAft>
              <a:defRPr sz="1000" b="1">
                <a:solidFill>
                  <a:srgbClr val="0F172A"/>
                </a:solidFill>
                <a:latin typeface="Calibri"/>
              </a:defRPr>
            </a:pPr>
            <a:r>
              <a:t>✓ 50 Active Commercial SKUs</a:t>
            </a:r>
          </a:p>
          <a:p>
            <a:pPr>
              <a:spcAft>
                <a:spcPts val="600"/>
              </a:spcAft>
              <a:defRPr sz="850">
                <a:solidFill>
                  <a:srgbClr val="1E293B"/>
                </a:solidFill>
                <a:latin typeface="Calibri"/>
              </a:defRPr>
            </a:pPr>
            <a:r>
              <a:t>  The core revenue-generating catalog modeled through 105 synchronized weekly demand cycles without a single missing record.</a:t>
            </a:r>
          </a:p>
          <a:p>
            <a:pPr>
              <a:spcAft>
                <a:spcPts val="100"/>
              </a:spcAft>
              <a:defRPr sz="1000" b="1">
                <a:solidFill>
                  <a:srgbClr val="0F172A"/>
                </a:solidFill>
                <a:latin typeface="Calibri"/>
              </a:defRPr>
            </a:pPr>
            <a:r>
              <a:t>✓ 150 Warehouse-Only Inactive Lines</a:t>
            </a:r>
          </a:p>
          <a:p>
            <a:pPr>
              <a:spcAft>
                <a:spcPts val="600"/>
              </a:spcAft>
              <a:defRPr sz="850">
                <a:solidFill>
                  <a:srgbClr val="1E293B"/>
                </a:solidFill>
                <a:latin typeface="Calibri"/>
              </a:defRPr>
            </a:pPr>
            <a:r>
              <a:t>  Reconciled from physical warehouse extracts: 39,985 units holding ₹17.49 Cr with zero sales in 2 years. Fully preserved in the data layer.</a:t>
            </a:r>
          </a:p>
          <a:p>
            <a:pPr>
              <a:spcAft>
                <a:spcPts val="100"/>
              </a:spcAft>
              <a:defRPr sz="1000" b="1">
                <a:solidFill>
                  <a:srgbClr val="0F172A"/>
                </a:solidFill>
                <a:latin typeface="Calibri"/>
              </a:defRPr>
            </a:pPr>
            <a:r>
              <a:t>✓ Full 200-SKU Enterprise Grid</a:t>
            </a:r>
          </a:p>
          <a:p>
            <a:pPr>
              <a:spcAft>
                <a:spcPts val="600"/>
              </a:spcAft>
              <a:defRPr sz="850">
                <a:solidFill>
                  <a:srgbClr val="1E293B"/>
                </a:solidFill>
                <a:latin typeface="Calibri"/>
              </a:defRPr>
            </a:pPr>
            <a:r>
              <a:t>  Ensures zero operational data loss: 50 commercial lines receive dynamic ML forecasts while 150 inactive lines are segregated for liquidation.</a:t>
            </a:r>
          </a:p>
          <a:p>
            <a:pPr>
              <a:spcAft>
                <a:spcPts val="100"/>
              </a:spcAft>
              <a:defRPr sz="1000" b="1">
                <a:solidFill>
                  <a:srgbClr val="0F172A"/>
                </a:solidFill>
                <a:latin typeface="Calibri"/>
              </a:defRPr>
            </a:pPr>
            <a:r>
              <a:t>✓ Multi-Echelon Pipeline Tracking</a:t>
            </a:r>
          </a:p>
          <a:p>
            <a:pPr>
              <a:spcAft>
                <a:spcPts val="600"/>
              </a:spcAft>
              <a:defRPr sz="850">
                <a:solidFill>
                  <a:srgbClr val="1E293B"/>
                </a:solidFill>
                <a:latin typeface="Calibri"/>
              </a:defRPr>
            </a:pPr>
            <a:r>
              <a:t>  Synchronizes current physical warehouse stock with confirmed supplier orders in transit (On-Order) across vendor lead times of 3 to 14 days.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EXPLORATORY DATA ANALYSIS</a:t>
            </a:r>
          </a:p>
          <a:p>
            <a:pPr>
              <a:spcAft>
                <a:spcPts val="200"/>
              </a:spcAft>
              <a:defRPr sz="2000" b="1">
                <a:solidFill>
                  <a:srgbClr val="0F172A"/>
                </a:solidFill>
                <a:latin typeface="Calibri"/>
              </a:defRPr>
            </a:pPr>
            <a:r>
              <a:t>What the Data Tells Us: 4 Crucial Commercial Realities</a:t>
            </a:r>
          </a:p>
          <a:p>
            <a:pPr>
              <a:defRPr sz="1100">
                <a:solidFill>
                  <a:srgbClr val="64748B"/>
                </a:solidFill>
                <a:latin typeface="Calibri"/>
              </a:defRPr>
            </a:pPr>
            <a:r>
              <a:t>Rigorous empirical profiling revealed severe revenue concentration, strong promotional sensitivity, and a hidden negative margin trap.</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sp>
        <p:nvSpPr>
          <p:cNvPr id="6" name="Rounded Rectangle 5"/>
          <p:cNvSpPr/>
          <p:nvPr/>
        </p:nvSpPr>
        <p:spPr>
          <a:xfrm>
            <a:off x="731520" y="1554480"/>
            <a:ext cx="5212080" cy="2194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1000" b="1">
                <a:solidFill>
                  <a:srgbClr val="2563EB"/>
                </a:solidFill>
                <a:latin typeface="Calibri"/>
              </a:defRPr>
            </a:pPr>
            <a:r>
              <a:t>1. EXTREME REVENUE CONCENTRATION</a:t>
            </a:r>
          </a:p>
          <a:p>
            <a:pPr>
              <a:spcAft>
                <a:spcPts val="400"/>
              </a:spcAft>
              <a:defRPr sz="1400" b="1">
                <a:solidFill>
                  <a:srgbClr val="0F172A"/>
                </a:solidFill>
                <a:latin typeface="Calibri"/>
              </a:defRPr>
            </a:pPr>
            <a:r>
              <a:t>Top 10 SKUs = 47.73% | Top 20 SKUs = 74.60%</a:t>
            </a:r>
          </a:p>
          <a:p>
            <a:pPr>
              <a:defRPr sz="950">
                <a:solidFill>
                  <a:srgbClr val="1E293B"/>
                </a:solidFill>
                <a:latin typeface="Calibri"/>
              </a:defRPr>
            </a:pPr>
            <a:r>
              <a:t>Commercial revenue is heavily skewed toward a small elite group of top-performing products. A stockout on any of the top 10 SKUs causes immediate, outsized financial damage to NorthBay Living.</a:t>
            </a:r>
          </a:p>
        </p:txBody>
      </p:sp>
      <p:sp>
        <p:nvSpPr>
          <p:cNvPr id="7" name="Rounded Rectangle 6"/>
          <p:cNvSpPr/>
          <p:nvPr/>
        </p:nvSpPr>
        <p:spPr>
          <a:xfrm>
            <a:off x="6217920" y="1554480"/>
            <a:ext cx="5212080" cy="219456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1000" b="1">
                <a:solidFill>
                  <a:srgbClr val="059669"/>
                </a:solidFill>
                <a:latin typeface="Calibri"/>
              </a:defRPr>
            </a:pPr>
            <a:r>
              <a:t>2. HIGH PROMOTIONAL ELASTICITY</a:t>
            </a:r>
          </a:p>
          <a:p>
            <a:pPr>
              <a:spcAft>
                <a:spcPts val="400"/>
              </a:spcAft>
              <a:defRPr sz="1400" b="1">
                <a:solidFill>
                  <a:srgbClr val="0F172A"/>
                </a:solidFill>
                <a:latin typeface="Calibri"/>
              </a:defRPr>
            </a:pPr>
            <a:r>
              <a:t>+38.12% Unit Uplift | +37.74% Revenue Uplift</a:t>
            </a:r>
          </a:p>
          <a:p>
            <a:pPr>
              <a:defRPr sz="950">
                <a:solidFill>
                  <a:srgbClr val="1E293B"/>
                </a:solidFill>
                <a:latin typeface="Calibri"/>
              </a:defRPr>
            </a:pPr>
            <a:r>
              <a:t>Promotional campaigns drive substantial volume acceleration. Forward planning must proactively anticipate supplier lead times prior to running promotional events to avoid promotional stockouts.</a:t>
            </a:r>
          </a:p>
        </p:txBody>
      </p:sp>
      <p:sp>
        <p:nvSpPr>
          <p:cNvPr id="8" name="Rounded Rectangle 7"/>
          <p:cNvSpPr/>
          <p:nvPr/>
        </p:nvSpPr>
        <p:spPr>
          <a:xfrm>
            <a:off x="731520" y="3931920"/>
            <a:ext cx="5212080" cy="2194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1000" b="1">
                <a:solidFill>
                  <a:srgbClr val="D97706"/>
                </a:solidFill>
                <a:latin typeface="Calibri"/>
              </a:defRPr>
            </a:pPr>
            <a:r>
              <a:t>3. STRONG DEMAND SEASONALITY</a:t>
            </a:r>
          </a:p>
          <a:p>
            <a:pPr>
              <a:spcAft>
                <a:spcPts val="400"/>
              </a:spcAft>
              <a:defRPr sz="1400" b="1">
                <a:solidFill>
                  <a:srgbClr val="0F172A"/>
                </a:solidFill>
                <a:latin typeface="Calibri"/>
              </a:defRPr>
            </a:pPr>
            <a:r>
              <a:t>March Peak: 118.5 Units/Wk | October Trough: 80.1 Units/Wk</a:t>
            </a:r>
          </a:p>
          <a:p>
            <a:pPr>
              <a:defRPr sz="950">
                <a:solidFill>
                  <a:srgbClr val="1E293B"/>
                </a:solidFill>
                <a:latin typeface="Calibri"/>
              </a:defRPr>
            </a:pPr>
            <a:r>
              <a:t>Weekly sales exhibit clear cyclical swings across spring and autumn. Static monthly ordering creates severe stockouts in Q1 and severe overstocking in Q3/Q4.</a:t>
            </a:r>
          </a:p>
        </p:txBody>
      </p:sp>
      <p:sp>
        <p:nvSpPr>
          <p:cNvPr id="9" name="Rounded Rectangle 8"/>
          <p:cNvSpPr/>
          <p:nvPr/>
        </p:nvSpPr>
        <p:spPr>
          <a:xfrm>
            <a:off x="6217920" y="3931920"/>
            <a:ext cx="5212080" cy="219456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1000" b="1">
                <a:solidFill>
                  <a:srgbClr val="DC2626"/>
                </a:solidFill>
                <a:latin typeface="Calibri"/>
              </a:defRPr>
            </a:pPr>
            <a:r>
              <a:t>4. THE NEGATIVE-MARGIN DRAG TRAP</a:t>
            </a:r>
          </a:p>
          <a:p>
            <a:pPr>
              <a:spcAft>
                <a:spcPts val="400"/>
              </a:spcAft>
              <a:defRPr sz="1400" b="1">
                <a:solidFill>
                  <a:srgbClr val="0F172A"/>
                </a:solidFill>
                <a:latin typeface="Calibri"/>
              </a:defRPr>
            </a:pPr>
            <a:r>
              <a:t>16 / 50 Active SKUs Sold Below Cost Price</a:t>
            </a:r>
          </a:p>
          <a:p>
            <a:pPr>
              <a:defRPr sz="950">
                <a:solidFill>
                  <a:srgbClr val="1E293B"/>
                </a:solidFill>
                <a:latin typeface="Calibri"/>
              </a:defRPr>
            </a:pPr>
            <a:r>
              <a:t>Due to misaligned discounting, 165,593 units were sold at a loss, generating ₹51.69 Cr in top-line revenue but inflicting a massive -₹30.38 Cr cumulative gross profit drag.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PREDICTIVE ANALYTICS ENGINE</a:t>
            </a:r>
          </a:p>
          <a:p>
            <a:pPr>
              <a:spcAft>
                <a:spcPts val="200"/>
              </a:spcAft>
              <a:defRPr sz="2000" b="1">
                <a:solidFill>
                  <a:srgbClr val="0F172A"/>
                </a:solidFill>
                <a:latin typeface="Calibri"/>
              </a:defRPr>
            </a:pPr>
            <a:r>
              <a:t>Can Machine Learning Outperform Seasonal Heuristics?</a:t>
            </a:r>
          </a:p>
          <a:p>
            <a:pPr>
              <a:defRPr sz="1100">
                <a:solidFill>
                  <a:srgbClr val="64748B"/>
                </a:solidFill>
                <a:latin typeface="Calibri"/>
              </a:defRPr>
            </a:pPr>
            <a:r>
              <a:t>Evaluating an 8-week forward horizon through 4 chronological rolling-origin backtests against a genuine seasonal baseline.</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sp>
        <p:nvSpPr>
          <p:cNvPr id="6" name="Rounded Rectangle 5"/>
          <p:cNvSpPr/>
          <p:nvPr/>
        </p:nvSpPr>
        <p:spPr>
          <a:xfrm>
            <a:off x="731520" y="1554480"/>
            <a:ext cx="512064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800"/>
              </a:spcAft>
              <a:defRPr sz="1200" b="1">
                <a:solidFill>
                  <a:srgbClr val="7C3AED"/>
                </a:solidFill>
                <a:latin typeface="Calibri"/>
              </a:defRPr>
            </a:pPr>
            <a:r>
              <a:t>MODEL VALIDATION &amp; SELECTION RESULTS</a:t>
            </a:r>
          </a:p>
          <a:p>
            <a:pPr>
              <a:spcAft>
                <a:spcPts val="100"/>
              </a:spcAft>
              <a:defRPr sz="950" b="1">
                <a:solidFill>
                  <a:srgbClr val="0F172A"/>
                </a:solidFill>
                <a:latin typeface="Calibri"/>
              </a:defRPr>
            </a:pPr>
            <a:r>
              <a:t>• Production ML Model:</a:t>
            </a:r>
          </a:p>
          <a:p>
            <a:pPr>
              <a:spcAft>
                <a:spcPts val="400"/>
              </a:spcAft>
              <a:defRPr sz="850">
                <a:solidFill>
                  <a:srgbClr val="1E293B"/>
                </a:solidFill>
                <a:latin typeface="Calibri"/>
              </a:defRPr>
            </a:pPr>
            <a:r>
              <a:t>  HistGradientBoostingRegressor selected for non-linear lag interactions and calendar feature splits.</a:t>
            </a:r>
          </a:p>
          <a:p>
            <a:pPr>
              <a:spcAft>
                <a:spcPts val="100"/>
              </a:spcAft>
              <a:defRPr sz="950" b="1">
                <a:solidFill>
                  <a:srgbClr val="0F172A"/>
                </a:solidFill>
                <a:latin typeface="Calibri"/>
              </a:defRPr>
            </a:pPr>
            <a:r>
              <a:t>• Seasonal-Naive Baseline WAPE:</a:t>
            </a:r>
          </a:p>
          <a:p>
            <a:pPr>
              <a:spcAft>
                <a:spcPts val="400"/>
              </a:spcAft>
              <a:defRPr sz="850">
                <a:solidFill>
                  <a:srgbClr val="1E293B"/>
                </a:solidFill>
                <a:latin typeface="Calibri"/>
              </a:defRPr>
            </a:pPr>
            <a:r>
              <a:t>  11.17% WAPE (Bias: +0.28 units/week). A rigorous 52-week seasonal lag benchmark.</a:t>
            </a:r>
          </a:p>
          <a:p>
            <a:pPr>
              <a:spcAft>
                <a:spcPts val="100"/>
              </a:spcAft>
              <a:defRPr sz="950" b="1">
                <a:solidFill>
                  <a:srgbClr val="0F172A"/>
                </a:solidFill>
                <a:latin typeface="Calibri"/>
              </a:defRPr>
            </a:pPr>
            <a:r>
              <a:t>• Production ML Model WAPE:</a:t>
            </a:r>
          </a:p>
          <a:p>
            <a:pPr>
              <a:spcAft>
                <a:spcPts val="400"/>
              </a:spcAft>
              <a:defRPr sz="850">
                <a:solidFill>
                  <a:srgbClr val="1E293B"/>
                </a:solidFill>
                <a:latin typeface="Calibri"/>
              </a:defRPr>
            </a:pPr>
            <a:r>
              <a:t>  10.56% WAPE (Bias: +2.03 units/week). Beats baseline by 0.61 percentage points (~5.5% relative error reduction).</a:t>
            </a:r>
          </a:p>
          <a:p>
            <a:pPr>
              <a:spcAft>
                <a:spcPts val="100"/>
              </a:spcAft>
              <a:defRPr sz="950" b="1">
                <a:solidFill>
                  <a:srgbClr val="0F172A"/>
                </a:solidFill>
                <a:latin typeface="Calibri"/>
              </a:defRPr>
            </a:pPr>
            <a:r>
              <a:t>• Rolling-Origin Backtesting:</a:t>
            </a:r>
          </a:p>
          <a:p>
            <a:pPr>
              <a:spcAft>
                <a:spcPts val="400"/>
              </a:spcAft>
              <a:defRPr sz="850">
                <a:solidFill>
                  <a:srgbClr val="1E293B"/>
                </a:solidFill>
                <a:latin typeface="Calibri"/>
              </a:defRPr>
            </a:pPr>
            <a:r>
              <a:t>  Evaluated across 4 chronological origin cutoff periods (1,600 individual SKU forecasts). ML won 3 out of 4 origins.</a:t>
            </a:r>
          </a:p>
          <a:p>
            <a:pPr>
              <a:spcAft>
                <a:spcPts val="100"/>
              </a:spcAft>
              <a:defRPr sz="950" b="1">
                <a:solidFill>
                  <a:srgbClr val="0F172A"/>
                </a:solidFill>
                <a:latin typeface="Calibri"/>
              </a:defRPr>
            </a:pPr>
            <a:r>
              <a:t>• Zero Data Leakage Governance:</a:t>
            </a:r>
          </a:p>
          <a:p>
            <a:pPr>
              <a:spcAft>
                <a:spcPts val="400"/>
              </a:spcAft>
              <a:defRPr sz="850">
                <a:solidFill>
                  <a:srgbClr val="1E293B"/>
                </a:solidFill>
                <a:latin typeface="Calibri"/>
              </a:defRPr>
            </a:pPr>
            <a:r>
              <a:t>  Strict temporal splits. No future sales or target leakage. The 3-day partial final historical week was explicitly excluded.</a:t>
            </a:r>
          </a:p>
        </p:txBody>
      </p:sp>
      <p:pic>
        <p:nvPicPr>
          <p:cNvPr id="7" name="Picture 6" descr="07_forecast_backtest_eval.png"/>
          <p:cNvPicPr>
            <a:picLocks noChangeAspect="1"/>
          </p:cNvPicPr>
          <p:nvPr/>
        </p:nvPicPr>
        <p:blipFill>
          <a:blip r:embed="rId2"/>
          <a:stretch>
            <a:fillRect/>
          </a:stretch>
        </p:blipFill>
        <p:spPr>
          <a:xfrm>
            <a:off x="6217920" y="1554480"/>
            <a:ext cx="521208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DYNAMIC RISK DECISIONING</a:t>
            </a:r>
          </a:p>
          <a:p>
            <a:pPr>
              <a:spcAft>
                <a:spcPts val="200"/>
              </a:spcAft>
              <a:defRPr sz="2000" b="1">
                <a:solidFill>
                  <a:srgbClr val="0F172A"/>
                </a:solidFill>
                <a:latin typeface="Calibri"/>
              </a:defRPr>
            </a:pPr>
            <a:r>
              <a:t>Connecting Forecasts to Lead Times: The 4 Decision Quadrants</a:t>
            </a:r>
          </a:p>
          <a:p>
            <a:pPr>
              <a:defRPr sz="1100">
                <a:solidFill>
                  <a:srgbClr val="64748B"/>
                </a:solidFill>
                <a:latin typeface="Calibri"/>
              </a:defRPr>
            </a:pPr>
            <a:r>
              <a:t>Stockout risk is forecast-driven, evaluating total available inventory against supplier lead-time demand plus safety stock.</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pic>
        <p:nvPicPr>
          <p:cNvPr id="6" name="Picture 5" descr="09_risk_decisioning_grid.png"/>
          <p:cNvPicPr>
            <a:picLocks noChangeAspect="1"/>
          </p:cNvPicPr>
          <p:nvPr/>
        </p:nvPicPr>
        <p:blipFill>
          <a:blip r:embed="rId2"/>
          <a:stretch>
            <a:fillRect/>
          </a:stretch>
        </p:blipFill>
        <p:spPr>
          <a:xfrm>
            <a:off x="731520" y="1554480"/>
            <a:ext cx="5120640" cy="4572000"/>
          </a:xfrm>
          <a:prstGeom prst="rect">
            <a:avLst/>
          </a:prstGeom>
        </p:spPr>
      </p:pic>
      <p:sp>
        <p:nvSpPr>
          <p:cNvPr id="7" name="Rounded Rectangle 6"/>
          <p:cNvSpPr/>
          <p:nvPr/>
        </p:nvSpPr>
        <p:spPr>
          <a:xfrm>
            <a:off x="6217920" y="1554480"/>
            <a:ext cx="5212080" cy="4572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600"/>
              </a:spcAft>
              <a:defRPr sz="1200" b="1">
                <a:solidFill>
                  <a:srgbClr val="0F172A"/>
                </a:solidFill>
                <a:latin typeface="Calibri"/>
              </a:defRPr>
            </a:pPr>
            <a:r>
              <a:t>THE 4 OPERATIONAL DECISION QUADRANTS</a:t>
            </a:r>
          </a:p>
          <a:p>
            <a:pPr>
              <a:spcAft>
                <a:spcPts val="100"/>
              </a:spcAft>
              <a:defRPr sz="1000" b="1">
                <a:solidFill>
                  <a:srgbClr val="DC2626"/>
                </a:solidFill>
                <a:latin typeface="Calibri"/>
              </a:defRPr>
            </a:pPr>
            <a:r>
              <a:t>🔴 REORDER NOW (6 SKUs | 12%)</a:t>
            </a:r>
          </a:p>
          <a:p>
            <a:pPr>
              <a:spcAft>
                <a:spcPts val="100"/>
              </a:spcAft>
              <a:defRPr sz="850" b="1">
                <a:solidFill>
                  <a:srgbClr val="1E293B"/>
                </a:solidFill>
                <a:latin typeface="Calibri"/>
              </a:defRPr>
            </a:pPr>
            <a:r>
              <a:t>Trigger Rule: Available &lt; Required Buffer</a:t>
            </a:r>
          </a:p>
          <a:p>
            <a:pPr>
              <a:spcAft>
                <a:spcPts val="500"/>
              </a:spcAft>
              <a:defRPr sz="800">
                <a:solidFill>
                  <a:srgbClr val="64748B"/>
                </a:solidFill>
                <a:latin typeface="Calibri"/>
              </a:defRPr>
            </a:pPr>
            <a:r>
              <a:t>Current Stock + On-Order fails to cover expected lead-time demand plus safety stock. Buffer deficit = 660.2 units. Urgent PO scheduling required.</a:t>
            </a:r>
          </a:p>
          <a:p>
            <a:pPr>
              <a:spcAft>
                <a:spcPts val="100"/>
              </a:spcAft>
              <a:defRPr sz="1000" b="1">
                <a:solidFill>
                  <a:srgbClr val="2563EB"/>
                </a:solidFill>
                <a:latin typeface="Calibri"/>
              </a:defRPr>
            </a:pPr>
            <a:r>
              <a:t>🔵 MARKDOWN / CLEAR (20 SKUs | 40%)</a:t>
            </a:r>
          </a:p>
          <a:p>
            <a:pPr>
              <a:spcAft>
                <a:spcPts val="100"/>
              </a:spcAft>
              <a:defRPr sz="850" b="1">
                <a:solidFill>
                  <a:srgbClr val="1E293B"/>
                </a:solidFill>
                <a:latin typeface="Calibri"/>
              </a:defRPr>
            </a:pPr>
            <a:r>
              <a:t>Trigger Rule: Current Stock &gt; 4-Week Forward Demand</a:t>
            </a:r>
          </a:p>
          <a:p>
            <a:pPr>
              <a:spcAft>
                <a:spcPts val="500"/>
              </a:spcAft>
              <a:defRPr sz="800">
                <a:solidFill>
                  <a:srgbClr val="64748B"/>
                </a:solidFill>
                <a:latin typeface="Calibri"/>
              </a:defRPr>
            </a:pPr>
            <a:r>
              <a:t>Holding inventory beyond 30 days of forward demand. 4,456 excess units tying up ₹1.34 Cr. Targeted promotional clearance recommended.</a:t>
            </a:r>
          </a:p>
          <a:p>
            <a:pPr>
              <a:spcAft>
                <a:spcPts val="100"/>
              </a:spcAft>
              <a:defRPr sz="1000" b="1">
                <a:solidFill>
                  <a:srgbClr val="D97706"/>
                </a:solidFill>
                <a:latin typeface="Calibri"/>
              </a:defRPr>
            </a:pPr>
            <a:r>
              <a:t>🟠 WATCH / VOLATILE (0 SKUs | 0%)</a:t>
            </a:r>
          </a:p>
          <a:p>
            <a:pPr>
              <a:spcAft>
                <a:spcPts val="100"/>
              </a:spcAft>
              <a:defRPr sz="850" b="1">
                <a:solidFill>
                  <a:srgbClr val="1E293B"/>
                </a:solidFill>
                <a:latin typeface="Calibri"/>
              </a:defRPr>
            </a:pPr>
            <a:r>
              <a:t>Trigger Rule: Buffer Breach + Excess Holding Coexistence</a:t>
            </a:r>
          </a:p>
          <a:p>
            <a:pPr>
              <a:spcAft>
                <a:spcPts val="500"/>
              </a:spcAft>
              <a:defRPr sz="800">
                <a:solidFill>
                  <a:srgbClr val="64748B"/>
                </a:solidFill>
                <a:latin typeface="Calibri"/>
              </a:defRPr>
            </a:pPr>
            <a:r>
              <a:t>Currently zero SKUs exhibit dual risk tension, indicating clean operational separation between stockout risks and holding excess.</a:t>
            </a:r>
          </a:p>
          <a:p>
            <a:pPr>
              <a:spcAft>
                <a:spcPts val="100"/>
              </a:spcAft>
              <a:defRPr sz="1000" b="1">
                <a:solidFill>
                  <a:srgbClr val="059669"/>
                </a:solidFill>
                <a:latin typeface="Calibri"/>
              </a:defRPr>
            </a:pPr>
            <a:r>
              <a:t>🟢 HEALTHY (24 SKUs | 48%)</a:t>
            </a:r>
          </a:p>
          <a:p>
            <a:pPr>
              <a:spcAft>
                <a:spcPts val="100"/>
              </a:spcAft>
              <a:defRPr sz="850" b="1">
                <a:solidFill>
                  <a:srgbClr val="1E293B"/>
                </a:solidFill>
                <a:latin typeface="Calibri"/>
              </a:defRPr>
            </a:pPr>
            <a:r>
              <a:t>Trigger Rule: Balanced Buffer &amp; Holding Position</a:t>
            </a:r>
          </a:p>
          <a:p>
            <a:pPr>
              <a:spcAft>
                <a:spcPts val="500"/>
              </a:spcAft>
              <a:defRPr sz="800">
                <a:solidFill>
                  <a:srgbClr val="64748B"/>
                </a:solidFill>
                <a:latin typeface="Calibri"/>
              </a:defRPr>
            </a:pPr>
            <a:r>
              <a:t>Inventory safely covers supplier lead-time requirements without exceeding 4-week holding thresholds. Maintain and monitor.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FINANCIAL QUANTIFICATION</a:t>
            </a:r>
          </a:p>
          <a:p>
            <a:pPr>
              <a:spcAft>
                <a:spcPts val="200"/>
              </a:spcAft>
              <a:defRPr sz="2000" b="1">
                <a:solidFill>
                  <a:srgbClr val="0F172A"/>
                </a:solidFill>
                <a:latin typeface="Calibri"/>
              </a:defRPr>
            </a:pPr>
            <a:r>
              <a:t>Quantifying Value at Stake: ₹1.79 Crore Operational Exposure</a:t>
            </a:r>
          </a:p>
          <a:p>
            <a:pPr>
              <a:defRPr sz="1100">
                <a:solidFill>
                  <a:srgbClr val="64748B"/>
                </a:solidFill>
                <a:latin typeface="Calibri"/>
              </a:defRPr>
            </a:pPr>
            <a:r>
              <a:t>Translating supply chain imbalances into exact rupee exposure metrics to guide executive prioritization.</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sp>
        <p:nvSpPr>
          <p:cNvPr id="6" name="Rounded Rectangle 5"/>
          <p:cNvSpPr/>
          <p:nvPr/>
        </p:nvSpPr>
        <p:spPr>
          <a:xfrm>
            <a:off x="731520" y="1554480"/>
            <a:ext cx="3337560" cy="1828800"/>
          </a:xfrm>
          <a:prstGeom prst="roundRect">
            <a:avLst/>
          </a:prstGeom>
          <a:solidFill>
            <a:srgbClr val="FFFFFF"/>
          </a:solidFill>
          <a:ln w="1524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39"/>
            <a:ext cx="3063240" cy="1554480"/>
          </a:xfrm>
          <a:prstGeom prst="rect">
            <a:avLst/>
          </a:prstGeom>
          <a:noFill/>
        </p:spPr>
        <p:txBody>
          <a:bodyPr wrap="square" lIns="0" tIns="0" rIns="0" bIns="0">
            <a:spAutoFit/>
          </a:bodyPr>
          <a:lstStyle/>
          <a:p>
            <a:pPr>
              <a:spcAft>
                <a:spcPts val="200"/>
              </a:spcAft>
              <a:defRPr sz="900" b="1">
                <a:solidFill>
                  <a:srgbClr val="64748B"/>
                </a:solidFill>
                <a:latin typeface="Calibri"/>
              </a:defRPr>
            </a:pPr>
            <a:r>
              <a:t>REVENUE AT RISK EXPOSURE</a:t>
            </a:r>
          </a:p>
          <a:p>
            <a:pPr>
              <a:spcAft>
                <a:spcPts val="200"/>
              </a:spcAft>
              <a:defRPr sz="1900" b="1">
                <a:solidFill>
                  <a:srgbClr val="DC2626"/>
                </a:solidFill>
                <a:latin typeface="Calibri"/>
              </a:defRPr>
            </a:pPr>
            <a:r>
              <a:t>₹45.18 Lakh</a:t>
            </a:r>
          </a:p>
          <a:p>
            <a:pPr>
              <a:defRPr sz="900">
                <a:solidFill>
                  <a:srgbClr val="1E293B"/>
                </a:solidFill>
                <a:latin typeface="Calibri"/>
              </a:defRPr>
            </a:pPr>
            <a:r>
              <a:t>• 660.2 units buffer deficit</a:t>
            </a:r>
            <a:br/>
            <a:r>
              <a:t>• 6 high-velocity commercial SKUs</a:t>
            </a:r>
            <a:br/>
            <a:r>
              <a:t>• Potential gross sales unfulfilled if replenishment is delayed</a:t>
            </a:r>
            <a:br/>
            <a:r>
              <a:t>• NOT guaranteed lost revenue</a:t>
            </a:r>
          </a:p>
        </p:txBody>
      </p:sp>
      <p:sp>
        <p:nvSpPr>
          <p:cNvPr id="8" name="Rounded Rectangle 7"/>
          <p:cNvSpPr/>
          <p:nvPr/>
        </p:nvSpPr>
        <p:spPr>
          <a:xfrm>
            <a:off x="4434840" y="1554480"/>
            <a:ext cx="3337560" cy="1828800"/>
          </a:xfrm>
          <a:prstGeom prst="roundRect">
            <a:avLst/>
          </a:prstGeom>
          <a:solidFill>
            <a:srgbClr val="FFFFFF"/>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691639"/>
            <a:ext cx="3063240" cy="1554480"/>
          </a:xfrm>
          <a:prstGeom prst="rect">
            <a:avLst/>
          </a:prstGeom>
          <a:noFill/>
        </p:spPr>
        <p:txBody>
          <a:bodyPr wrap="square" lIns="0" tIns="0" rIns="0" bIns="0">
            <a:spAutoFit/>
          </a:bodyPr>
          <a:lstStyle/>
          <a:p>
            <a:pPr>
              <a:spcAft>
                <a:spcPts val="200"/>
              </a:spcAft>
              <a:defRPr sz="900" b="1">
                <a:solidFill>
                  <a:srgbClr val="64748B"/>
                </a:solidFill>
                <a:latin typeface="Calibri"/>
              </a:defRPr>
            </a:pPr>
            <a:r>
              <a:t>CAPITAL TIED UP IN EXCESS</a:t>
            </a:r>
          </a:p>
          <a:p>
            <a:pPr>
              <a:spcAft>
                <a:spcPts val="200"/>
              </a:spcAft>
              <a:defRPr sz="1900" b="1">
                <a:solidFill>
                  <a:srgbClr val="D97706"/>
                </a:solidFill>
                <a:latin typeface="Calibri"/>
              </a:defRPr>
            </a:pPr>
            <a:r>
              <a:t>₹1.34 Crore</a:t>
            </a:r>
          </a:p>
          <a:p>
            <a:pPr>
              <a:defRPr sz="900">
                <a:solidFill>
                  <a:srgbClr val="1E293B"/>
                </a:solidFill>
                <a:latin typeface="Calibri"/>
              </a:defRPr>
            </a:pPr>
            <a:r>
              <a:t>• 4,456 excess inventory units</a:t>
            </a:r>
            <a:br/>
            <a:r>
              <a:t>• 20 overstocked commercial SKUs</a:t>
            </a:r>
            <a:br/>
            <a:r>
              <a:t>• Operational working capital locked beyond 4-week demand</a:t>
            </a:r>
            <a:br/>
            <a:r>
              <a:t>• NOT a permanent accounting loss</a:t>
            </a:r>
          </a:p>
        </p:txBody>
      </p:sp>
      <p:sp>
        <p:nvSpPr>
          <p:cNvPr id="10" name="Rounded Rectangle 9"/>
          <p:cNvSpPr/>
          <p:nvPr/>
        </p:nvSpPr>
        <p:spPr>
          <a:xfrm>
            <a:off x="8138160" y="1554480"/>
            <a:ext cx="3291840" cy="18288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691639"/>
            <a:ext cx="3017520" cy="1554480"/>
          </a:xfrm>
          <a:prstGeom prst="rect">
            <a:avLst/>
          </a:prstGeom>
          <a:noFill/>
        </p:spPr>
        <p:txBody>
          <a:bodyPr wrap="square" lIns="0" tIns="0" rIns="0" bIns="0">
            <a:spAutoFit/>
          </a:bodyPr>
          <a:lstStyle/>
          <a:p>
            <a:pPr>
              <a:spcAft>
                <a:spcPts val="200"/>
              </a:spcAft>
              <a:defRPr sz="900" b="1">
                <a:solidFill>
                  <a:srgbClr val="64748B"/>
                </a:solidFill>
                <a:latin typeface="Calibri"/>
              </a:defRPr>
            </a:pPr>
            <a:r>
              <a:t>TOTAL ACTIVE VALUE AT STAKE</a:t>
            </a:r>
          </a:p>
          <a:p>
            <a:pPr>
              <a:spcAft>
                <a:spcPts val="200"/>
              </a:spcAft>
              <a:defRPr sz="1900" b="1">
                <a:solidFill>
                  <a:srgbClr val="2563EB"/>
                </a:solidFill>
                <a:latin typeface="Calibri"/>
              </a:defRPr>
            </a:pPr>
            <a:r>
              <a:t>₹1.79 Crore</a:t>
            </a:r>
          </a:p>
          <a:p>
            <a:pPr>
              <a:defRPr sz="900">
                <a:solidFill>
                  <a:srgbClr val="1E293B"/>
                </a:solidFill>
                <a:latin typeface="Calibri"/>
              </a:defRPr>
            </a:pPr>
            <a:r>
              <a:t>• Combined managerial priority index</a:t>
            </a:r>
            <a:br/>
            <a:r>
              <a:t>• 26 of 50 active SKUs require review</a:t>
            </a:r>
            <a:br/>
            <a:r>
              <a:t>• Guides operational triage between reordering and clearance</a:t>
            </a:r>
            <a:br/>
            <a:r>
              <a:t>• Exposure / Decision support metric</a:t>
            </a:r>
          </a:p>
        </p:txBody>
      </p:sp>
      <p:sp>
        <p:nvSpPr>
          <p:cNvPr id="12" name="Rounded Rectangle 11"/>
          <p:cNvSpPr/>
          <p:nvPr/>
        </p:nvSpPr>
        <p:spPr>
          <a:xfrm>
            <a:off x="731520" y="3657600"/>
            <a:ext cx="10698480" cy="2468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600"/>
              </a:spcAft>
              <a:defRPr sz="1150" b="1">
                <a:solidFill>
                  <a:srgbClr val="0F172A"/>
                </a:solidFill>
                <a:latin typeface="Calibri"/>
              </a:defRPr>
            </a:pPr>
            <a:r>
              <a:t>ENTERPRISE CAPITAL EXPOSURE CONTEXT &amp; GOVERNANCE</a:t>
            </a:r>
          </a:p>
          <a:p>
            <a:pPr>
              <a:spcAft>
                <a:spcPts val="100"/>
              </a:spcAft>
              <a:defRPr sz="950" b="1">
                <a:solidFill>
                  <a:srgbClr val="0F172A"/>
                </a:solidFill>
                <a:latin typeface="Calibri"/>
              </a:defRPr>
            </a:pPr>
            <a:r>
              <a:t>• Stockout Concentration (Top 3 SKUs = 94.7% of Risk): </a:t>
            </a:r>
          </a:p>
          <a:p>
            <a:pPr>
              <a:spcAft>
                <a:spcPts val="400"/>
              </a:spcAft>
              <a:defRPr sz="850">
                <a:solidFill>
                  <a:srgbClr val="1E293B"/>
                </a:solidFill>
                <a:latin typeface="Calibri"/>
              </a:defRPr>
            </a:pPr>
            <a:r>
              <a:t>  Among the 6 stockout SKUs, three lines drive nearly the entire financial exposure: SKU012 (₹18.25L), SKU017 (₹13.34L), and SKU031 (₹11.22L). Focusing operations on these three SKUs resolves 95% of total stockout exposure.</a:t>
            </a:r>
          </a:p>
          <a:p>
            <a:pPr>
              <a:spcAft>
                <a:spcPts val="100"/>
              </a:spcAft>
              <a:defRPr sz="950" b="1">
                <a:solidFill>
                  <a:srgbClr val="0F172A"/>
                </a:solidFill>
                <a:latin typeface="Calibri"/>
              </a:defRPr>
            </a:pPr>
            <a:r>
              <a:t>• Overstock Concentration (Top 3 SKUs = 51.8% of Tied-Up Capital): </a:t>
            </a:r>
          </a:p>
          <a:p>
            <a:pPr>
              <a:spcAft>
                <a:spcPts val="400"/>
              </a:spcAft>
              <a:defRPr sz="850">
                <a:solidFill>
                  <a:srgbClr val="1E293B"/>
                </a:solidFill>
                <a:latin typeface="Calibri"/>
              </a:defRPr>
            </a:pPr>
            <a:r>
              <a:t>  Excess inventory is heavily concentrated in Storage and Furniture categories: SKU020 (₹41.87L), SKU025 (₹13.92L), and SKU036 (₹13.75L). Targeted promotional bundles can unlock over ₹69 Lakhs in liquidity.</a:t>
            </a:r>
          </a:p>
          <a:p>
            <a:pPr>
              <a:spcAft>
                <a:spcPts val="100"/>
              </a:spcAft>
              <a:defRPr sz="950" b="1">
                <a:solidFill>
                  <a:srgbClr val="0F172A"/>
                </a:solidFill>
                <a:latin typeface="Calibri"/>
              </a:defRPr>
            </a:pPr>
            <a:r>
              <a:t>• The Inactive Warehouse Capital Perspective (₹17.49 Crore): </a:t>
            </a:r>
          </a:p>
          <a:p>
            <a:pPr>
              <a:spcAft>
                <a:spcPts val="400"/>
              </a:spcAft>
              <a:defRPr sz="850">
                <a:solidFill>
                  <a:srgbClr val="1E293B"/>
                </a:solidFill>
                <a:latin typeface="Calibri"/>
              </a:defRPr>
            </a:pPr>
            <a:r>
              <a:t>  While active catalog exposure is ₹1.79 Crore, physical warehouse reconciliation reveals ₹17.49 Crore locked in 150 inactive SKUs. Strategic attention from executive leadership must address this dormant asset portfolio.</a:t>
            </a:r>
          </a:p>
          <a:p>
            <a:pPr>
              <a:spcAft>
                <a:spcPts val="100"/>
              </a:spcAft>
              <a:defRPr sz="950" b="1">
                <a:solidFill>
                  <a:srgbClr val="0F172A"/>
                </a:solidFill>
                <a:latin typeface="Calibri"/>
              </a:defRPr>
            </a:pPr>
            <a:r>
              <a:t>• Terminology Transparency: </a:t>
            </a:r>
          </a:p>
          <a:p>
            <a:pPr>
              <a:spcAft>
                <a:spcPts val="400"/>
              </a:spcAft>
              <a:defRPr sz="850">
                <a:solidFill>
                  <a:srgbClr val="1E293B"/>
                </a:solidFill>
                <a:latin typeface="Calibri"/>
              </a:defRPr>
            </a:pPr>
            <a:r>
              <a:t>  All values are presented strictly as operational exposure estimates to support decision-making, not as guaranteed cost savings or realized accounting gains.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OPERATIONAL EXECUTION</a:t>
            </a:r>
          </a:p>
          <a:p>
            <a:pPr>
              <a:spcAft>
                <a:spcPts val="200"/>
              </a:spcAft>
              <a:defRPr sz="2000" b="1">
                <a:solidFill>
                  <a:srgbClr val="0F172A"/>
                </a:solidFill>
                <a:latin typeface="Calibri"/>
              </a:defRPr>
            </a:pPr>
            <a:r>
              <a:t>Prioritized Action Roadmap for Operations, Merchandising &amp; Finance</a:t>
            </a:r>
          </a:p>
          <a:p>
            <a:pPr>
              <a:defRPr sz="1100">
                <a:solidFill>
                  <a:srgbClr val="64748B"/>
                </a:solidFill>
                <a:latin typeface="Calibri"/>
              </a:defRPr>
            </a:pPr>
            <a:r>
              <a:t>Concrete operational recommendations categorized by urgency, business rationale, and stakeholder ownership.</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graphicFrame>
        <p:nvGraphicFramePr>
          <p:cNvPr id="6" name="Table 5"/>
          <p:cNvGraphicFramePr>
            <a:graphicFrameLocks noGrp="1"/>
          </p:cNvGraphicFramePr>
          <p:nvPr/>
        </p:nvGraphicFramePr>
        <p:xfrm>
          <a:off x="731520" y="1554480"/>
          <a:ext cx="10698480" cy="4114800"/>
        </p:xfrm>
        <a:graphic>
          <a:graphicData uri="http://schemas.openxmlformats.org/drawingml/2006/table">
            <a:tbl>
              <a:tblPr firstRow="1" bandRow="1">
                <a:tableStyleId>{5C22544A-7EE6-4342-B048-85BDC9FD1C3A}</a:tableStyleId>
              </a:tblPr>
              <a:tblGrid>
                <a:gridCol w="1097280"/>
                <a:gridCol w="2377440"/>
                <a:gridCol w="1920240"/>
                <a:gridCol w="5303520"/>
              </a:tblGrid>
              <a:tr h="685800">
                <a:tc>
                  <a:txBody>
                    <a:bodyPr wrap="square"/>
                    <a:lstStyle/>
                    <a:p>
                      <a:pPr>
                        <a:defRPr sz="1000" b="1">
                          <a:solidFill>
                            <a:srgbClr val="FFFFFF"/>
                          </a:solidFill>
                          <a:latin typeface="Calibri"/>
                        </a:defRPr>
                      </a:pPr>
                      <a:r>
                        <a:t>Priority</a:t>
                      </a:r>
                    </a:p>
                  </a:txBody>
                  <a:tcPr>
                    <a:solidFill>
                      <a:srgbClr val="0F172A"/>
                    </a:solidFill>
                  </a:tcPr>
                </a:tc>
                <a:tc>
                  <a:txBody>
                    <a:bodyPr wrap="square"/>
                    <a:lstStyle/>
                    <a:p>
                      <a:pPr>
                        <a:defRPr sz="1000" b="1">
                          <a:solidFill>
                            <a:srgbClr val="FFFFFF"/>
                          </a:solidFill>
                          <a:latin typeface="Calibri"/>
                        </a:defRPr>
                      </a:pPr>
                      <a:r>
                        <a:t>Recommended Action</a:t>
                      </a:r>
                    </a:p>
                  </a:txBody>
                  <a:tcPr>
                    <a:solidFill>
                      <a:srgbClr val="0F172A"/>
                    </a:solidFill>
                  </a:tcPr>
                </a:tc>
                <a:tc>
                  <a:txBody>
                    <a:bodyPr wrap="square"/>
                    <a:lstStyle/>
                    <a:p>
                      <a:pPr>
                        <a:defRPr sz="1000" b="1">
                          <a:solidFill>
                            <a:srgbClr val="FFFFFF"/>
                          </a:solidFill>
                          <a:latin typeface="Calibri"/>
                        </a:defRPr>
                      </a:pPr>
                      <a:r>
                        <a:t>Target Scope</a:t>
                      </a:r>
                    </a:p>
                  </a:txBody>
                  <a:tcPr>
                    <a:solidFill>
                      <a:srgbClr val="0F172A"/>
                    </a:solidFill>
                  </a:tcPr>
                </a:tc>
                <a:tc>
                  <a:txBody>
                    <a:bodyPr wrap="square"/>
                    <a:lstStyle/>
                    <a:p>
                      <a:pPr>
                        <a:defRPr sz="1000" b="1">
                          <a:solidFill>
                            <a:srgbClr val="FFFFFF"/>
                          </a:solidFill>
                          <a:latin typeface="Calibri"/>
                        </a:defRPr>
                      </a:pPr>
                      <a:r>
                        <a:t>Operational Rationale &amp; Business Impact</a:t>
                      </a:r>
                    </a:p>
                  </a:txBody>
                  <a:tcPr>
                    <a:solidFill>
                      <a:srgbClr val="0F172A"/>
                    </a:solidFill>
                  </a:tcPr>
                </a:tc>
              </a:tr>
              <a:tr h="685800">
                <a:tc>
                  <a:txBody>
                    <a:bodyPr/>
                    <a:lstStyle/>
                    <a:p>
                      <a:pPr>
                        <a:defRPr sz="950" b="1">
                          <a:solidFill>
                            <a:srgbClr val="DC2626"/>
                          </a:solidFill>
                        </a:defRPr>
                      </a:pPr>
                      <a:r>
                        <a:t>P1 (Urgent)</a:t>
                      </a:r>
                    </a:p>
                  </a:txBody>
                  <a:tcPr/>
                </a:tc>
                <a:tc>
                  <a:txBody>
                    <a:bodyPr/>
                    <a:lstStyle/>
                    <a:p>
                      <a:pPr>
                        <a:defRPr sz="950" b="1">
                          <a:solidFill>
                            <a:srgbClr val="0F172A"/>
                          </a:solidFill>
                        </a:defRPr>
                      </a:pPr>
                      <a:r>
                        <a:t>Replenishment Purchase Orders</a:t>
                      </a:r>
                    </a:p>
                  </a:txBody>
                  <a:tcPr/>
                </a:tc>
                <a:tc>
                  <a:txBody>
                    <a:bodyPr/>
                    <a:lstStyle/>
                    <a:p>
                      <a:pPr>
                        <a:defRPr sz="900">
                          <a:solidFill>
                            <a:srgbClr val="1E293B"/>
                          </a:solidFill>
                        </a:defRPr>
                      </a:pPr>
                      <a:r>
                        <a:t>6 Stockout SKUs</a:t>
                      </a:r>
                    </a:p>
                    <a:p>
                      <a:r>
                        <a:t>(SKU012, 017, 031, etc.)</a:t>
                      </a:r>
                    </a:p>
                  </a:txBody>
                  <a:tcPr/>
                </a:tc>
                <a:tc>
                  <a:txBody>
                    <a:bodyPr/>
                    <a:lstStyle/>
                    <a:p>
                      <a:pPr>
                        <a:defRPr sz="900">
                          <a:solidFill>
                            <a:srgbClr val="1E293B"/>
                          </a:solidFill>
                        </a:defRPr>
                      </a:pPr>
                      <a:r>
                        <a:t>Expedite vendor orders for 6 buffer-breached lines. Protects ₹45.18 Lakhs in sales exposure. Top 3 lines (SKU012, 017, 031) represent 95% of exposure.</a:t>
                      </a:r>
                    </a:p>
                  </a:txBody>
                  <a:tcPr/>
                </a:tc>
              </a:tr>
              <a:tr h="685800">
                <a:tc>
                  <a:txBody>
                    <a:bodyPr/>
                    <a:lstStyle/>
                    <a:p>
                      <a:pPr>
                        <a:defRPr sz="950" b="1">
                          <a:solidFill>
                            <a:srgbClr val="D97706"/>
                          </a:solidFill>
                        </a:defRPr>
                      </a:pPr>
                      <a:r>
                        <a:t>P2 (Near-Term)</a:t>
                      </a:r>
                    </a:p>
                  </a:txBody>
                  <a:tcPr/>
                </a:tc>
                <a:tc>
                  <a:txBody>
                    <a:bodyPr/>
                    <a:lstStyle/>
                    <a:p>
                      <a:pPr>
                        <a:defRPr sz="950" b="1">
                          <a:solidFill>
                            <a:srgbClr val="0F172A"/>
                          </a:solidFill>
                        </a:defRPr>
                      </a:pPr>
                      <a:r>
                        <a:t>Promotional Markdowns &amp; Clearance</a:t>
                      </a:r>
                    </a:p>
                  </a:txBody>
                  <a:tcPr/>
                </a:tc>
                <a:tc>
                  <a:txBody>
                    <a:bodyPr/>
                    <a:lstStyle/>
                    <a:p>
                      <a:pPr>
                        <a:defRPr sz="900">
                          <a:solidFill>
                            <a:srgbClr val="1E293B"/>
                          </a:solidFill>
                        </a:defRPr>
                      </a:pPr>
                      <a:r>
                        <a:t>20 Overstock SKUs</a:t>
                      </a:r>
                    </a:p>
                    <a:p>
                      <a:r>
                        <a:t>(SKU020, 025, 036, etc.)</a:t>
                      </a:r>
                    </a:p>
                  </a:txBody>
                  <a:tcPr/>
                </a:tc>
                <a:tc>
                  <a:txBody>
                    <a:bodyPr/>
                    <a:lstStyle/>
                    <a:p>
                      <a:pPr>
                        <a:defRPr sz="900">
                          <a:solidFill>
                            <a:srgbClr val="1E293B"/>
                          </a:solidFill>
                        </a:defRPr>
                      </a:pPr>
                      <a:r>
                        <a:t>Launch targeted promotional discounts or bundle packages on 4,456 excess units to unlock ₹1.34 Crore in working capital and reduce holding costs.</a:t>
                      </a:r>
                    </a:p>
                  </a:txBody>
                  <a:tcPr/>
                </a:tc>
              </a:tr>
              <a:tr h="685800">
                <a:tc>
                  <a:txBody>
                    <a:bodyPr/>
                    <a:lstStyle/>
                    <a:p>
                      <a:pPr>
                        <a:defRPr sz="950" b="1">
                          <a:solidFill>
                            <a:srgbClr val="2563EB"/>
                          </a:solidFill>
                        </a:defRPr>
                      </a:pPr>
                      <a:r>
                        <a:t>P3 (Strategic)</a:t>
                      </a:r>
                    </a:p>
                  </a:txBody>
                  <a:tcPr/>
                </a:tc>
                <a:tc>
                  <a:txBody>
                    <a:bodyPr/>
                    <a:lstStyle/>
                    <a:p>
                      <a:pPr>
                        <a:defRPr sz="950" b="1">
                          <a:solidFill>
                            <a:srgbClr val="0F172A"/>
                          </a:solidFill>
                        </a:defRPr>
                      </a:pPr>
                      <a:r>
                        <a:t>Audit Warehouse-Only Inventory</a:t>
                      </a:r>
                    </a:p>
                  </a:txBody>
                  <a:tcPr/>
                </a:tc>
                <a:tc>
                  <a:txBody>
                    <a:bodyPr/>
                    <a:lstStyle/>
                    <a:p>
                      <a:pPr>
                        <a:defRPr sz="900">
                          <a:solidFill>
                            <a:srgbClr val="1E293B"/>
                          </a:solidFill>
                        </a:defRPr>
                      </a:pPr>
                      <a:r>
                        <a:t>150 Inactive SKUs</a:t>
                      </a:r>
                    </a:p>
                    <a:p>
                      <a:r>
                        <a:t>(39,985 units)</a:t>
                      </a:r>
                    </a:p>
                  </a:txBody>
                  <a:tcPr/>
                </a:tc>
                <a:tc>
                  <a:txBody>
                    <a:bodyPr/>
                    <a:lstStyle/>
                    <a:p>
                      <a:pPr>
                        <a:defRPr sz="900">
                          <a:solidFill>
                            <a:srgbClr val="1E293B"/>
                          </a:solidFill>
                        </a:defRPr>
                      </a:pPr>
                      <a:r>
                        <a:t>Freeze 27,737 units of in-transit orders immediately. Conduct catalog review to determine whether to launch online or initiate bulk B2B liquidation (₹17.49 Cr).</a:t>
                      </a:r>
                    </a:p>
                  </a:txBody>
                  <a:tcPr/>
                </a:tc>
              </a:tr>
              <a:tr h="685800">
                <a:tc>
                  <a:txBody>
                    <a:bodyPr/>
                    <a:lstStyle/>
                    <a:p>
                      <a:pPr>
                        <a:defRPr sz="950" b="1">
                          <a:solidFill>
                            <a:srgbClr val="DC2626"/>
                          </a:solidFill>
                        </a:defRPr>
                      </a:pPr>
                      <a:r>
                        <a:t>P4 (Commercial)</a:t>
                      </a:r>
                    </a:p>
                  </a:txBody>
                  <a:tcPr/>
                </a:tc>
                <a:tc>
                  <a:txBody>
                    <a:bodyPr/>
                    <a:lstStyle/>
                    <a:p>
                      <a:pPr>
                        <a:defRPr sz="950" b="1">
                          <a:solidFill>
                            <a:srgbClr val="0F172A"/>
                          </a:solidFill>
                        </a:defRPr>
                      </a:pPr>
                      <a:r>
                        <a:t>Restructure Negative-Margin SKUs</a:t>
                      </a:r>
                    </a:p>
                  </a:txBody>
                  <a:tcPr/>
                </a:tc>
                <a:tc>
                  <a:txBody>
                    <a:bodyPr/>
                    <a:lstStyle/>
                    <a:p>
                      <a:pPr>
                        <a:defRPr sz="900">
                          <a:solidFill>
                            <a:srgbClr val="1E293B"/>
                          </a:solidFill>
                        </a:defRPr>
                      </a:pPr>
                      <a:r>
                        <a:t>16 Active SKUs</a:t>
                      </a:r>
                    </a:p>
                    <a:p>
                      <a:r>
                        <a:t>(165,593 units sold)</a:t>
                      </a:r>
                    </a:p>
                  </a:txBody>
                  <a:tcPr/>
                </a:tc>
                <a:tc>
                  <a:txBody>
                    <a:bodyPr/>
                    <a:lstStyle/>
                    <a:p>
                      <a:pPr>
                        <a:defRPr sz="900">
                          <a:solidFill>
                            <a:srgbClr val="1E293B"/>
                          </a:solidFill>
                        </a:defRPr>
                      </a:pPr>
                      <a:r>
                        <a:t>Renegotiate vendor costs or raise retail price points on 16 loss-making products to stem -₹30.38 Crore in cumulative margin erosion.</a:t>
                      </a:r>
                    </a:p>
                  </a:txBody>
                  <a:tcPr/>
                </a:tc>
              </a:tr>
              <a:tr h="685800">
                <a:tc>
                  <a:txBody>
                    <a:bodyPr/>
                    <a:lstStyle/>
                    <a:p>
                      <a:pPr>
                        <a:defRPr sz="950" b="1">
                          <a:solidFill>
                            <a:srgbClr val="059669"/>
                          </a:solidFill>
                        </a:defRPr>
                      </a:pPr>
                      <a:r>
                        <a:t>P5 (Governance)</a:t>
                      </a:r>
                    </a:p>
                  </a:txBody>
                  <a:tcPr/>
                </a:tc>
                <a:tc>
                  <a:txBody>
                    <a:bodyPr/>
                    <a:lstStyle/>
                    <a:p>
                      <a:pPr>
                        <a:defRPr sz="950" b="1">
                          <a:solidFill>
                            <a:srgbClr val="0F172A"/>
                          </a:solidFill>
                        </a:defRPr>
                      </a:pPr>
                      <a:r>
                        <a:t>Forecast Monitoring &amp; Recalibration</a:t>
                      </a:r>
                    </a:p>
                  </a:txBody>
                  <a:tcPr/>
                </a:tc>
                <a:tc>
                  <a:txBody>
                    <a:bodyPr/>
                    <a:lstStyle/>
                    <a:p>
                      <a:pPr>
                        <a:defRPr sz="900">
                          <a:solidFill>
                            <a:srgbClr val="1E293B"/>
                          </a:solidFill>
                        </a:defRPr>
                      </a:pPr>
                      <a:r>
                        <a:t>All 50 Commercial SKUs</a:t>
                      </a:r>
                    </a:p>
                    <a:p>
                      <a:r>
                        <a:t>(Monthly cadence)</a:t>
                      </a:r>
                    </a:p>
                  </a:txBody>
                  <a:tcPr/>
                </a:tc>
                <a:tc>
                  <a:txBody>
                    <a:bodyPr/>
                    <a:lstStyle/>
                    <a:p>
                      <a:pPr>
                        <a:defRPr sz="900">
                          <a:solidFill>
                            <a:srgbClr val="1E293B"/>
                          </a:solidFill>
                        </a:defRPr>
                      </a:pPr>
                      <a:r>
                        <a:t>Track monthly WAPE and signed bias (+2.03 units) against actual orders to ensure models stay tightly calibrated as customer demand evolves.</a:t>
                      </a:r>
                    </a:p>
                  </a:txBody>
                  <a:tcPr/>
                </a:tc>
              </a:tr>
            </a:tbl>
          </a:graphicData>
        </a:graphic>
      </p:graphicFrame>
      <p:sp>
        <p:nvSpPr>
          <p:cNvPr id="7" name="TextBox 6"/>
          <p:cNvSpPr txBox="1"/>
          <p:nvPr/>
        </p:nvSpPr>
        <p:spPr>
          <a:xfrm>
            <a:off x="731520" y="5806440"/>
            <a:ext cx="10698480" cy="457200"/>
          </a:xfrm>
          <a:prstGeom prst="rect">
            <a:avLst/>
          </a:prstGeom>
          <a:noFill/>
        </p:spPr>
        <p:txBody>
          <a:bodyPr wrap="none">
            <a:spAutoFit/>
          </a:bodyPr>
          <a:lstStyle/>
          <a:p>
            <a:pPr>
              <a:defRPr sz="850" i="1">
                <a:solidFill>
                  <a:srgbClr val="64748B"/>
                </a:solidFill>
                <a:latin typeface="Calibri"/>
              </a:defRPr>
            </a:pPr>
            <a:r>
              <a:t>⚠️ Operational Governance Boundary: FORESIGHT provides prioritized decision-support recommendations. Automated purchase order firing and dynamic algorithmic repricing are intentionally out of scope to preserve executive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TECHNOLOGY &amp; DELIVERY ARCHITECTURE</a:t>
            </a:r>
          </a:p>
          <a:p>
            <a:pPr>
              <a:spcAft>
                <a:spcPts val="200"/>
              </a:spcAft>
              <a:defRPr sz="2000" b="1">
                <a:solidFill>
                  <a:srgbClr val="0F172A"/>
                </a:solidFill>
                <a:latin typeface="Calibri"/>
              </a:defRPr>
            </a:pPr>
            <a:r>
              <a:t>The FORESIGHT Platform: Interactive Planning &amp; Scoring Services</a:t>
            </a:r>
          </a:p>
          <a:p>
            <a:pPr>
              <a:defRPr sz="1100">
                <a:solidFill>
                  <a:srgbClr val="64748B"/>
                </a:solidFill>
                <a:latin typeface="Calibri"/>
              </a:defRPr>
            </a:pPr>
            <a:r>
              <a:t>Delivering dual capabilities: an interactive Streamlit planning dashboard for business leaders and a real-time FastAPI scoring service for ERP integration.</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sp>
        <p:nvSpPr>
          <p:cNvPr id="6" name="Rounded Rectangle 5"/>
          <p:cNvSpPr/>
          <p:nvPr/>
        </p:nvSpPr>
        <p:spPr>
          <a:xfrm>
            <a:off x="731520" y="1554480"/>
            <a:ext cx="5120640" cy="4572000"/>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600"/>
              </a:spcAft>
              <a:defRPr sz="1200" b="1">
                <a:solidFill>
                  <a:srgbClr val="2563EB"/>
                </a:solidFill>
                <a:latin typeface="Calibri"/>
              </a:defRPr>
            </a:pPr>
            <a:r>
              <a:t>STREAMLIT PLANNING DASHBOARD (D5)</a:t>
            </a:r>
          </a:p>
          <a:p>
            <a:pPr>
              <a:spcAft>
                <a:spcPts val="100"/>
              </a:spcAft>
              <a:defRPr sz="950" b="1">
                <a:solidFill>
                  <a:srgbClr val="0F172A"/>
                </a:solidFill>
                <a:latin typeface="Calibri"/>
              </a:defRPr>
            </a:pPr>
            <a:r>
              <a:t>• Executive KPI Banner: </a:t>
            </a:r>
          </a:p>
          <a:p>
            <a:pPr>
              <a:spcAft>
                <a:spcPts val="400"/>
              </a:spcAft>
              <a:defRPr sz="850">
                <a:solidFill>
                  <a:srgbClr val="1E293B"/>
                </a:solidFill>
                <a:latin typeface="Calibri"/>
              </a:defRPr>
            </a:pPr>
            <a:r>
              <a:t>  Dynamic metrics calculating total SKUs, stockout counts, overstock counts, revenue at risk, and working capital tied up in real time.</a:t>
            </a:r>
          </a:p>
          <a:p>
            <a:pPr>
              <a:spcAft>
                <a:spcPts val="100"/>
              </a:spcAft>
              <a:defRPr sz="950" b="1">
                <a:solidFill>
                  <a:srgbClr val="0F172A"/>
                </a:solidFill>
                <a:latin typeface="Calibri"/>
              </a:defRPr>
            </a:pPr>
            <a:r>
              <a:t>• Interactive 4-Quadrant Matrix: </a:t>
            </a:r>
          </a:p>
          <a:p>
            <a:pPr>
              <a:spcAft>
                <a:spcPts val="400"/>
              </a:spcAft>
              <a:defRPr sz="850">
                <a:solidFill>
                  <a:srgbClr val="1E293B"/>
                </a:solidFill>
                <a:latin typeface="Calibri"/>
              </a:defRPr>
            </a:pPr>
            <a:r>
              <a:t>  Plotly scatter chart mapping all 50 SKUs across Reorder Now, Markdown/Clear, Watch/Volatile, and Healthy states with bubble sizing by value at stake.</a:t>
            </a:r>
          </a:p>
          <a:p>
            <a:pPr>
              <a:spcAft>
                <a:spcPts val="100"/>
              </a:spcAft>
              <a:defRPr sz="950" b="1">
                <a:solidFill>
                  <a:srgbClr val="0F172A"/>
                </a:solidFill>
                <a:latin typeface="Calibri"/>
              </a:defRPr>
            </a:pPr>
            <a:r>
              <a:t>• Prioritized Action Tables: </a:t>
            </a:r>
          </a:p>
          <a:p>
            <a:pPr>
              <a:spcAft>
                <a:spcPts val="400"/>
              </a:spcAft>
              <a:defRPr sz="850">
                <a:solidFill>
                  <a:srgbClr val="1E293B"/>
                </a:solidFill>
                <a:latin typeface="Calibri"/>
              </a:defRPr>
            </a:pPr>
            <a:r>
              <a:t>  One-click filtered action queues for Operations (stockout buffer breaches) and Merchandising (excess holdings).</a:t>
            </a:r>
          </a:p>
          <a:p>
            <a:pPr>
              <a:spcAft>
                <a:spcPts val="100"/>
              </a:spcAft>
              <a:defRPr sz="950" b="1">
                <a:solidFill>
                  <a:srgbClr val="0F172A"/>
                </a:solidFill>
                <a:latin typeface="Calibri"/>
              </a:defRPr>
            </a:pPr>
            <a:r>
              <a:t>• Single-SKU Diagnostic Deep-Dive: </a:t>
            </a:r>
          </a:p>
          <a:p>
            <a:pPr>
              <a:spcAft>
                <a:spcPts val="400"/>
              </a:spcAft>
              <a:defRPr sz="850">
                <a:solidFill>
                  <a:srgbClr val="1E293B"/>
                </a:solidFill>
                <a:latin typeface="Calibri"/>
              </a:defRPr>
            </a:pPr>
            <a:r>
              <a:t>  Historical 52-week demand trend, 8-week ML forecast projection, and 80% prediction interval bands (P10 to P90).</a:t>
            </a:r>
          </a:p>
          <a:p>
            <a:pPr>
              <a:spcAft>
                <a:spcPts val="100"/>
              </a:spcAft>
              <a:defRPr sz="950" b="1">
                <a:solidFill>
                  <a:srgbClr val="0F172A"/>
                </a:solidFill>
                <a:latin typeface="Calibri"/>
              </a:defRPr>
            </a:pPr>
            <a:r>
              <a:t>• Plain-Language Business Rationale: </a:t>
            </a:r>
          </a:p>
          <a:p>
            <a:pPr>
              <a:spcAft>
                <a:spcPts val="400"/>
              </a:spcAft>
              <a:defRPr sz="850">
                <a:solidFill>
                  <a:srgbClr val="1E293B"/>
                </a:solidFill>
                <a:latin typeface="Calibri"/>
              </a:defRPr>
            </a:pPr>
            <a:r>
              <a:t>  Dynamic executive explanations detailing available units vs required buffers without technical jargon.</a:t>
            </a:r>
          </a:p>
        </p:txBody>
      </p:sp>
      <p:sp>
        <p:nvSpPr>
          <p:cNvPr id="7" name="Rounded Rectangle 6"/>
          <p:cNvSpPr/>
          <p:nvPr/>
        </p:nvSpPr>
        <p:spPr>
          <a:xfrm>
            <a:off x="6217920" y="1554480"/>
            <a:ext cx="5212080" cy="4572000"/>
          </a:xfrm>
          <a:prstGeom prst="roundRect">
            <a:avLst/>
          </a:prstGeom>
          <a:solidFill>
            <a:srgbClr val="FFFFFF"/>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a:lstStyle/>
          <a:p>
            <a:pPr algn="ctr">
              <a:spcAft>
                <a:spcPts val="600"/>
              </a:spcAft>
              <a:defRPr sz="1200" b="1">
                <a:solidFill>
                  <a:srgbClr val="7C3AED"/>
                </a:solidFill>
                <a:latin typeface="Calibri"/>
              </a:defRPr>
            </a:pPr>
            <a:r>
              <a:t>FASTAPI SCORING SERVICE (D6)</a:t>
            </a:r>
          </a:p>
          <a:p>
            <a:pPr>
              <a:spcAft>
                <a:spcPts val="100"/>
              </a:spcAft>
              <a:defRPr sz="950" b="1">
                <a:solidFill>
                  <a:srgbClr val="0F172A"/>
                </a:solidFill>
                <a:latin typeface="Calibri"/>
              </a:defRPr>
            </a:pPr>
            <a:r>
              <a:t>✓ GET /health: </a:t>
            </a:r>
          </a:p>
          <a:p>
            <a:pPr>
              <a:spcAft>
                <a:spcPts val="400"/>
              </a:spcAft>
              <a:defRPr sz="850">
                <a:solidFill>
                  <a:srgbClr val="1E293B"/>
                </a:solidFill>
                <a:latin typeface="Calibri"/>
              </a:defRPr>
            </a:pPr>
            <a:r>
              <a:t>  Health check endpoint returning system status, model name (HistGradientBoostingRegressor), and validation WAPE (10.56%).</a:t>
            </a:r>
          </a:p>
          <a:p>
            <a:pPr>
              <a:spcAft>
                <a:spcPts val="100"/>
              </a:spcAft>
              <a:defRPr sz="950" b="1">
                <a:solidFill>
                  <a:srgbClr val="0F172A"/>
                </a:solidFill>
                <a:latin typeface="Calibri"/>
              </a:defRPr>
            </a:pPr>
            <a:r>
              <a:t>✓ GET /forecast/{sku_id}: </a:t>
            </a:r>
          </a:p>
          <a:p>
            <a:pPr>
              <a:spcAft>
                <a:spcPts val="400"/>
              </a:spcAft>
              <a:defRPr sz="850">
                <a:solidFill>
                  <a:srgbClr val="1E293B"/>
                </a:solidFill>
                <a:latin typeface="Calibri"/>
              </a:defRPr>
            </a:pPr>
            <a:r>
              <a:t>  Returns 8-week forward forecast, total projected units, projected revenue, and weekly P10/P90 confidence bounds.</a:t>
            </a:r>
          </a:p>
          <a:p>
            <a:pPr>
              <a:spcAft>
                <a:spcPts val="100"/>
              </a:spcAft>
              <a:defRPr sz="950" b="1">
                <a:solidFill>
                  <a:srgbClr val="0F172A"/>
                </a:solidFill>
                <a:latin typeface="Calibri"/>
              </a:defRPr>
            </a:pPr>
            <a:r>
              <a:t>✓ GET /risk/{sku_id}: </a:t>
            </a:r>
          </a:p>
          <a:p>
            <a:pPr>
              <a:spcAft>
                <a:spcPts val="400"/>
              </a:spcAft>
              <a:defRPr sz="850">
                <a:solidFill>
                  <a:srgbClr val="1E293B"/>
                </a:solidFill>
                <a:latin typeface="Calibri"/>
              </a:defRPr>
            </a:pPr>
            <a:r>
              <a:t>  Returns dynamic lead-time demand, buffer gap, stockout/overstock risk flags, decision quadrant, and rupee exposure.</a:t>
            </a:r>
          </a:p>
          <a:p>
            <a:pPr>
              <a:spcAft>
                <a:spcPts val="100"/>
              </a:spcAft>
              <a:defRPr sz="950" b="1">
                <a:solidFill>
                  <a:srgbClr val="0F172A"/>
                </a:solidFill>
                <a:latin typeface="Calibri"/>
              </a:defRPr>
            </a:pPr>
            <a:r>
              <a:t>✓ POST /score/batch: </a:t>
            </a:r>
          </a:p>
          <a:p>
            <a:pPr>
              <a:spcAft>
                <a:spcPts val="400"/>
              </a:spcAft>
              <a:defRPr sz="850">
                <a:solidFill>
                  <a:srgbClr val="1E293B"/>
                </a:solidFill>
                <a:latin typeface="Calibri"/>
              </a:defRPr>
            </a:pPr>
            <a:r>
              <a:t>  High-throughput endpoint accepting multiple SKU IDs, returning scored records and isolating uncataloged SKUs in error responses.</a:t>
            </a:r>
          </a:p>
          <a:p>
            <a:pPr>
              <a:spcAft>
                <a:spcPts val="100"/>
              </a:spcAft>
              <a:defRPr sz="950" b="1">
                <a:solidFill>
                  <a:srgbClr val="0F172A"/>
                </a:solidFill>
                <a:latin typeface="Calibri"/>
              </a:defRPr>
            </a:pPr>
            <a:r>
              <a:t>✓ Enterprise-Ready Architecture: </a:t>
            </a:r>
          </a:p>
          <a:p>
            <a:pPr>
              <a:spcAft>
                <a:spcPts val="400"/>
              </a:spcAft>
              <a:defRPr sz="850">
                <a:solidFill>
                  <a:srgbClr val="1E293B"/>
                </a:solidFill>
                <a:latin typeface="Calibri"/>
              </a:defRPr>
            </a:pPr>
            <a:r>
              <a:t>  Pydantic v2 data validation, CORS middleware enabled, fully containerizable with Procfile and render.yaml blueprints.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METHODOLOGICAL INTEGRITY</a:t>
            </a:r>
          </a:p>
          <a:p>
            <a:pPr>
              <a:spcAft>
                <a:spcPts val="200"/>
              </a:spcAft>
              <a:defRPr sz="2000" b="1">
                <a:solidFill>
                  <a:srgbClr val="0F172A"/>
                </a:solidFill>
                <a:latin typeface="Calibri"/>
              </a:defRPr>
            </a:pPr>
            <a:r>
              <a:t>Methodological Governance, Limitations &amp; Assumptions</a:t>
            </a:r>
          </a:p>
          <a:p>
            <a:pPr>
              <a:defRPr sz="1100">
                <a:solidFill>
                  <a:srgbClr val="64748B"/>
                </a:solidFill>
                <a:latin typeface="Calibri"/>
              </a:defRPr>
            </a:pPr>
            <a:r>
              <a:t>Transparent accounting of model assumptions, prediction uncertainty, and operational scope boundaries.</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sp>
        <p:nvSpPr>
          <p:cNvPr id="6" name="Rounded Rectangle 5"/>
          <p:cNvSpPr/>
          <p:nvPr/>
        </p:nvSpPr>
        <p:spPr>
          <a:xfrm>
            <a:off x="731520" y="1554480"/>
            <a:ext cx="5212080" cy="219456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1000" b="1">
                <a:solidFill>
                  <a:srgbClr val="2563EB"/>
                </a:solidFill>
                <a:latin typeface="Calibri"/>
              </a:defRPr>
            </a:pPr>
            <a:r>
              <a:t>1. FORECAST UNCERTAINTY &amp; HORIZON SCOPE</a:t>
            </a:r>
          </a:p>
          <a:p>
            <a:pPr>
              <a:spcAft>
                <a:spcPts val="400"/>
              </a:spcAft>
              <a:defRPr sz="1300" b="1">
                <a:solidFill>
                  <a:srgbClr val="0F172A"/>
                </a:solidFill>
                <a:latin typeface="Calibri"/>
              </a:defRPr>
            </a:pPr>
            <a:r>
              <a:t>Validation WAPE: 10.56% | Horizon: 8 Weeks</a:t>
            </a:r>
          </a:p>
          <a:p>
            <a:pPr>
              <a:defRPr sz="950">
                <a:solidFill>
                  <a:srgbClr val="1E293B"/>
                </a:solidFill>
                <a:latin typeface="Calibri"/>
              </a:defRPr>
            </a:pPr>
            <a:r>
              <a:t>The model reduces forecasting error by ~5.5% over the seasonal benchmark, but 10.56% error remains. Forecasts extend 8 weeks forward; planning beyond 60 days requires monthly model recalibration as macro conditions shift.</a:t>
            </a:r>
          </a:p>
        </p:txBody>
      </p:sp>
      <p:sp>
        <p:nvSpPr>
          <p:cNvPr id="7" name="Rounded Rectangle 6"/>
          <p:cNvSpPr/>
          <p:nvPr/>
        </p:nvSpPr>
        <p:spPr>
          <a:xfrm>
            <a:off x="6217920" y="1554480"/>
            <a:ext cx="5212080" cy="219456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1000" b="1">
                <a:solidFill>
                  <a:srgbClr val="D97706"/>
                </a:solidFill>
                <a:latin typeface="Calibri"/>
              </a:defRPr>
            </a:pPr>
            <a:r>
              <a:t>2. POSITIVE SIGNED MODEL BIAS (+2.03 UNITS)</a:t>
            </a:r>
          </a:p>
          <a:p>
            <a:pPr>
              <a:spcAft>
                <a:spcPts val="400"/>
              </a:spcAft>
              <a:defRPr sz="1300" b="1">
                <a:solidFill>
                  <a:srgbClr val="0F172A"/>
                </a:solidFill>
                <a:latin typeface="Calibri"/>
              </a:defRPr>
            </a:pPr>
            <a:r>
              <a:t>Slight Inherent Over-Prediction Buffer</a:t>
            </a:r>
          </a:p>
          <a:p>
            <a:pPr>
              <a:defRPr sz="950">
                <a:solidFill>
                  <a:srgbClr val="1E293B"/>
                </a:solidFill>
                <a:latin typeface="Calibri"/>
              </a:defRPr>
            </a:pPr>
            <a:r>
              <a:t>The ML model exhibits a small positive signed bias (+2.03 units/week out of sample). Operationally, this acts as a conservative safety buffer against stockouts, but merchandising should verify slow-moving item projections.</a:t>
            </a:r>
          </a:p>
        </p:txBody>
      </p:sp>
      <p:sp>
        <p:nvSpPr>
          <p:cNvPr id="8" name="Rounded Rectangle 7"/>
          <p:cNvSpPr/>
          <p:nvPr/>
        </p:nvSpPr>
        <p:spPr>
          <a:xfrm>
            <a:off x="731520" y="3931920"/>
            <a:ext cx="5212080" cy="219456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1000" b="1">
                <a:solidFill>
                  <a:srgbClr val="DC2626"/>
                </a:solidFill>
                <a:latin typeface="Calibri"/>
              </a:defRPr>
            </a:pPr>
            <a:r>
              <a:t>3. SUPPLIER EXECUTION &amp; TRANSIT DYNAMICS</a:t>
            </a:r>
          </a:p>
          <a:p>
            <a:pPr>
              <a:spcAft>
                <a:spcPts val="400"/>
              </a:spcAft>
              <a:defRPr sz="1300" b="1">
                <a:solidFill>
                  <a:srgbClr val="0F172A"/>
                </a:solidFill>
                <a:latin typeface="Calibri"/>
              </a:defRPr>
            </a:pPr>
            <a:r>
              <a:t>Assumes Historical Lead Times (3–14 Days)</a:t>
            </a:r>
          </a:p>
          <a:p>
            <a:pPr>
              <a:defRPr sz="950">
                <a:solidFill>
                  <a:srgbClr val="1E293B"/>
                </a:solidFill>
                <a:latin typeface="Calibri"/>
              </a:defRPr>
            </a:pPr>
            <a:r>
              <a:t>Dynamic buffer calculations rely on vendor lead times provided in catalog data. External supply chain shocks, port delays, or vendor stockouts will alter real-world arrival times and require buffer adjustments.</a:t>
            </a:r>
          </a:p>
        </p:txBody>
      </p:sp>
      <p:sp>
        <p:nvSpPr>
          <p:cNvPr id="9" name="Rounded Rectangle 8"/>
          <p:cNvSpPr/>
          <p:nvPr/>
        </p:nvSpPr>
        <p:spPr>
          <a:xfrm>
            <a:off x="6217920" y="3931920"/>
            <a:ext cx="5212080" cy="2194560"/>
          </a:xfrm>
          <a:prstGeom prst="roundRect">
            <a:avLst/>
          </a:prstGeom>
          <a:solidFill>
            <a:srgbClr val="FFFFFF"/>
          </a:solid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1000" b="1">
                <a:solidFill>
                  <a:srgbClr val="1E293B"/>
                </a:solidFill>
                <a:latin typeface="Calibri"/>
              </a:defRPr>
            </a:pPr>
            <a:r>
              <a:t>4. OPERATIONAL SCOPE BOUNDARIES</a:t>
            </a:r>
          </a:p>
          <a:p>
            <a:pPr>
              <a:spcAft>
                <a:spcPts val="400"/>
              </a:spcAft>
              <a:defRPr sz="1300" b="1">
                <a:solidFill>
                  <a:srgbClr val="0F172A"/>
                </a:solidFill>
                <a:latin typeface="Calibri"/>
              </a:defRPr>
            </a:pPr>
            <a:r>
              <a:t>Decision-Support System (Not ERP Execution)</a:t>
            </a:r>
          </a:p>
          <a:p>
            <a:pPr>
              <a:defRPr sz="950">
                <a:solidFill>
                  <a:srgbClr val="1E293B"/>
                </a:solidFill>
                <a:latin typeface="Calibri"/>
              </a:defRPr>
            </a:pPr>
            <a:r>
              <a:t>FORESIGHT is strictly an executive decision-support platform. Automated purchase order firing, dynamic price-setting, and real-time streaming data architectures were deliberately kept out of scope to prioritize human review.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1005840"/>
          </a:xfrm>
          <a:prstGeom prst="rect">
            <a:avLst/>
          </a:prstGeom>
          <a:noFill/>
        </p:spPr>
        <p:txBody>
          <a:bodyPr wrap="square" lIns="0" tIns="0" rIns="0" bIns="0">
            <a:spAutoFit/>
          </a:bodyPr>
          <a:lstStyle/>
          <a:p>
            <a:pPr>
              <a:spcAft>
                <a:spcPts val="200"/>
              </a:spcAft>
              <a:defRPr sz="950" b="1">
                <a:solidFill>
                  <a:srgbClr val="2563EB"/>
                </a:solidFill>
                <a:latin typeface="Calibri"/>
              </a:defRPr>
            </a:pPr>
            <a:r>
              <a:t>STRATEGIC ROADMAP</a:t>
            </a:r>
          </a:p>
          <a:p>
            <a:pPr>
              <a:spcAft>
                <a:spcPts val="200"/>
              </a:spcAft>
              <a:defRPr sz="2000" b="1">
                <a:solidFill>
                  <a:srgbClr val="0F172A"/>
                </a:solidFill>
                <a:latin typeface="Calibri"/>
              </a:defRPr>
            </a:pPr>
            <a:r>
              <a:t>Implementation Roadmap: 4 Phases to Full Deployment</a:t>
            </a:r>
          </a:p>
          <a:p>
            <a:pPr>
              <a:defRPr sz="1100">
                <a:solidFill>
                  <a:srgbClr val="64748B"/>
                </a:solidFill>
                <a:latin typeface="Calibri"/>
              </a:defRPr>
            </a:pPr>
            <a:r>
              <a:t>A structured 30-day operational rollout translating Project FORESIGHT into lasting enterprise impact.</a:t>
            </a:r>
          </a:p>
        </p:txBody>
      </p:sp>
      <p:sp>
        <p:nvSpPr>
          <p:cNvPr id="5" name="TextBox 4"/>
          <p:cNvSpPr txBox="1"/>
          <p:nvPr/>
        </p:nvSpPr>
        <p:spPr>
          <a:xfrm>
            <a:off x="731520" y="6446520"/>
            <a:ext cx="10698480" cy="320040"/>
          </a:xfrm>
          <a:prstGeom prst="rect">
            <a:avLst/>
          </a:prstGeom>
          <a:noFill/>
        </p:spPr>
        <p:txBody>
          <a:bodyPr wrap="square" lIns="0" tIns="0" rIns="0" bIns="0">
            <a:spAutoFit/>
          </a:bodyPr>
          <a:lstStyle/>
          <a:p>
            <a:pPr>
              <a:defRPr sz="850">
                <a:solidFill>
                  <a:srgbClr val="64748B"/>
                </a:solidFill>
                <a:latin typeface="Calibri"/>
              </a:defRPr>
            </a:pPr>
            <a:r>
              <a:t>Project FORESIGHT | Client: NorthBay Living | Confidential Executive Decision Readout</a:t>
            </a:r>
          </a:p>
        </p:txBody>
      </p:sp>
      <p:sp>
        <p:nvSpPr>
          <p:cNvPr id="6" name="Rounded Rectangle 5"/>
          <p:cNvSpPr/>
          <p:nvPr/>
        </p:nvSpPr>
        <p:spPr>
          <a:xfrm>
            <a:off x="731520" y="1554480"/>
            <a:ext cx="2514600" cy="347472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950" b="1">
                <a:solidFill>
                  <a:srgbClr val="DC2626"/>
                </a:solidFill>
                <a:latin typeface="Calibri"/>
              </a:defRPr>
            </a:pPr>
            <a:r>
              <a:t>PHASE 1 (WEEK 1)</a:t>
            </a:r>
          </a:p>
          <a:p>
            <a:pPr>
              <a:spcAft>
                <a:spcPts val="600"/>
              </a:spcAft>
              <a:defRPr sz="1200" b="1">
                <a:solidFill>
                  <a:srgbClr val="0F172A"/>
                </a:solidFill>
                <a:latin typeface="Calibri"/>
              </a:defRPr>
            </a:pPr>
            <a:r>
              <a:t>Immediate Triage</a:t>
            </a:r>
          </a:p>
          <a:p>
            <a:pPr>
              <a:defRPr sz="900">
                <a:solidFill>
                  <a:srgbClr val="1E293B"/>
                </a:solidFill>
                <a:latin typeface="Calibri"/>
              </a:defRPr>
            </a:pPr>
            <a:r>
              <a:t>• Validate 6 stockout SKUs with Operations</a:t>
            </a:r>
            <a:br/>
            <a:r>
              <a:t>• Expedite POs for SKU012, 017, 031</a:t>
            </a:r>
            <a:br/>
            <a:r>
              <a:t>• Review 20 clearance lines with Merchandising</a:t>
            </a:r>
            <a:br/>
            <a:r>
              <a:t>• Target: Prevent ₹45.18L stockout exposure</a:t>
            </a:r>
          </a:p>
        </p:txBody>
      </p:sp>
      <p:sp>
        <p:nvSpPr>
          <p:cNvPr id="7" name="Rounded Rectangle 6"/>
          <p:cNvSpPr/>
          <p:nvPr/>
        </p:nvSpPr>
        <p:spPr>
          <a:xfrm>
            <a:off x="3474720" y="1554480"/>
            <a:ext cx="2514600" cy="347472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950" b="1">
                <a:solidFill>
                  <a:srgbClr val="D97706"/>
                </a:solidFill>
                <a:latin typeface="Calibri"/>
              </a:defRPr>
            </a:pPr>
            <a:r>
              <a:t>PHASE 2 (WEEK 2)</a:t>
            </a:r>
          </a:p>
          <a:p>
            <a:pPr>
              <a:spcAft>
                <a:spcPts val="600"/>
              </a:spcAft>
              <a:defRPr sz="1200" b="1">
                <a:solidFill>
                  <a:srgbClr val="0F172A"/>
                </a:solidFill>
                <a:latin typeface="Calibri"/>
              </a:defRPr>
            </a:pPr>
            <a:r>
              <a:t>Commercial Restructuring</a:t>
            </a:r>
          </a:p>
          <a:p>
            <a:pPr>
              <a:defRPr sz="900">
                <a:solidFill>
                  <a:srgbClr val="1E293B"/>
                </a:solidFill>
                <a:latin typeface="Calibri"/>
              </a:defRPr>
            </a:pPr>
            <a:r>
              <a:t>• Audit 16 negative-margin active SKUs</a:t>
            </a:r>
            <a:br/>
            <a:r>
              <a:t>• Adjust promotional discounts and pricing</a:t>
            </a:r>
            <a:br/>
            <a:r>
              <a:t>• Freeze 27,737 units of inactive on-order stock</a:t>
            </a:r>
            <a:br/>
            <a:r>
              <a:t>• Target: Stem -₹30.38 Cr margin drain</a:t>
            </a:r>
          </a:p>
        </p:txBody>
      </p:sp>
      <p:sp>
        <p:nvSpPr>
          <p:cNvPr id="8" name="Rounded Rectangle 7"/>
          <p:cNvSpPr/>
          <p:nvPr/>
        </p:nvSpPr>
        <p:spPr>
          <a:xfrm>
            <a:off x="6217920" y="1554480"/>
            <a:ext cx="2514600" cy="34747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950" b="1">
                <a:solidFill>
                  <a:srgbClr val="2563EB"/>
                </a:solidFill>
                <a:latin typeface="Calibri"/>
              </a:defRPr>
            </a:pPr>
            <a:r>
              <a:t>PHASE 3 (WEEK 3-4)</a:t>
            </a:r>
          </a:p>
          <a:p>
            <a:pPr>
              <a:spcAft>
                <a:spcPts val="600"/>
              </a:spcAft>
              <a:defRPr sz="1200" b="1">
                <a:solidFill>
                  <a:srgbClr val="0F172A"/>
                </a:solidFill>
                <a:latin typeface="Calibri"/>
              </a:defRPr>
            </a:pPr>
            <a:r>
              <a:t>Platform Deployment</a:t>
            </a:r>
          </a:p>
          <a:p>
            <a:pPr>
              <a:defRPr sz="900">
                <a:solidFill>
                  <a:srgbClr val="1E293B"/>
                </a:solidFill>
                <a:latin typeface="Calibri"/>
              </a:defRPr>
            </a:pPr>
            <a:r>
              <a:t>• Deploy Streamlit dashboard to planning teams</a:t>
            </a:r>
            <a:br/>
            <a:r>
              <a:t>• Integrate FastAPI service with internal ERP</a:t>
            </a:r>
            <a:br/>
            <a:r>
              <a:t>• Onboard Operations and Finance leads</a:t>
            </a:r>
            <a:br/>
            <a:r>
              <a:t>• Target: Operationalize automated scoring</a:t>
            </a:r>
          </a:p>
        </p:txBody>
      </p:sp>
      <p:sp>
        <p:nvSpPr>
          <p:cNvPr id="9" name="Rounded Rectangle 8"/>
          <p:cNvSpPr/>
          <p:nvPr/>
        </p:nvSpPr>
        <p:spPr>
          <a:xfrm>
            <a:off x="8961120" y="1554480"/>
            <a:ext cx="2514600" cy="3474720"/>
          </a:xfrm>
          <a:prstGeom prst="round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spcAft>
                <a:spcPts val="200"/>
              </a:spcAft>
              <a:defRPr sz="950" b="1">
                <a:solidFill>
                  <a:srgbClr val="059669"/>
                </a:solidFill>
                <a:latin typeface="Calibri"/>
              </a:defRPr>
            </a:pPr>
            <a:r>
              <a:t>PHASE 4 (ONGOING)</a:t>
            </a:r>
          </a:p>
          <a:p>
            <a:pPr>
              <a:spcAft>
                <a:spcPts val="600"/>
              </a:spcAft>
              <a:defRPr sz="1200" b="1">
                <a:solidFill>
                  <a:srgbClr val="0F172A"/>
                </a:solidFill>
                <a:latin typeface="Calibri"/>
              </a:defRPr>
            </a:pPr>
            <a:r>
              <a:t>Governance &amp; Recalibration</a:t>
            </a:r>
          </a:p>
          <a:p>
            <a:pPr>
              <a:defRPr sz="900">
                <a:solidFill>
                  <a:srgbClr val="1E293B"/>
                </a:solidFill>
                <a:latin typeface="Calibri"/>
              </a:defRPr>
            </a:pPr>
            <a:r>
              <a:t>• Monthly forecast re-training on new sales</a:t>
            </a:r>
            <a:br/>
            <a:r>
              <a:t>• Track realized WAPE vs 10.56% benchmark</a:t>
            </a:r>
            <a:br/>
            <a:r>
              <a:t>• Update vendor lead times dynamically</a:t>
            </a:r>
            <a:br/>
            <a:r>
              <a:t>• Target: Continuous model improvement</a:t>
            </a:r>
          </a:p>
        </p:txBody>
      </p:sp>
      <p:sp>
        <p:nvSpPr>
          <p:cNvPr id="10" name="Rounded Rectangle 9"/>
          <p:cNvSpPr/>
          <p:nvPr/>
        </p:nvSpPr>
        <p:spPr>
          <a:xfrm>
            <a:off x="731520" y="5212080"/>
            <a:ext cx="10744200" cy="9144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274320" rIns="274320"/>
          <a:lstStyle/>
          <a:p>
            <a:pPr algn="ctr">
              <a:spcAft>
                <a:spcPts val="200"/>
              </a:spcAft>
              <a:defRPr sz="1300" b="1">
                <a:solidFill>
                  <a:srgbClr val="FFFFFF"/>
                </a:solidFill>
                <a:latin typeface="Calibri"/>
              </a:defRPr>
            </a:pPr>
            <a:r>
              <a:t>“Project FORESIGHT turns demand and inventory data into prioritized operational decisions.”</a:t>
            </a:r>
          </a:p>
          <a:p>
            <a:pPr algn="ctr">
              <a:defRPr sz="950">
                <a:solidFill>
                  <a:srgbClr val="94A3B8"/>
                </a:solidFill>
                <a:latin typeface="Calibri"/>
              </a:defRPr>
            </a:pPr>
            <a:r>
              <a:t>Delivered on time, validated end-to-end, and ready for operational deployment at NorthBay Living.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